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56" r:id="rId2"/>
    <p:sldId id="280" r:id="rId3"/>
    <p:sldId id="258" r:id="rId4"/>
    <p:sldId id="259" r:id="rId5"/>
    <p:sldId id="265" r:id="rId6"/>
    <p:sldId id="270" r:id="rId7"/>
    <p:sldId id="271" r:id="rId8"/>
    <p:sldId id="273" r:id="rId9"/>
    <p:sldId id="261" r:id="rId10"/>
    <p:sldId id="260" r:id="rId11"/>
    <p:sldId id="262" r:id="rId12"/>
    <p:sldId id="266" r:id="rId13"/>
    <p:sldId id="267" r:id="rId14"/>
    <p:sldId id="263" r:id="rId15"/>
    <p:sldId id="269" r:id="rId16"/>
    <p:sldId id="268" r:id="rId17"/>
    <p:sldId id="274" r:id="rId18"/>
    <p:sldId id="276" r:id="rId19"/>
    <p:sldId id="275" r:id="rId20"/>
    <p:sldId id="277" r:id="rId21"/>
    <p:sldId id="279" r:id="rId22"/>
    <p:sldId id="272" r:id="rId23"/>
    <p:sldId id="278" r:id="rId24"/>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snapToGrid="0">
      <p:cViewPr varScale="1">
        <p:scale>
          <a:sx n="88" d="100"/>
          <a:sy n="88" d="100"/>
        </p:scale>
        <p:origin x="62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5B152B-E4B1-4308-AB17-4C0DDC37FCA0}" type="datetimeFigureOut">
              <a:rPr lang="en-GH" smtClean="0"/>
              <a:t>09/27/2026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436B04-DF7C-4033-9A60-D01CD85C23DB}" type="slidenum">
              <a:rPr lang="en-GH" smtClean="0"/>
              <a:t>‹#›</a:t>
            </a:fld>
            <a:endParaRPr lang="en-GH"/>
          </a:p>
        </p:txBody>
      </p:sp>
    </p:spTree>
    <p:extLst>
      <p:ext uri="{BB962C8B-B14F-4D97-AF65-F5344CB8AC3E}">
        <p14:creationId xmlns:p14="http://schemas.microsoft.com/office/powerpoint/2010/main" val="3588784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90436B04-DF7C-4033-9A60-D01CD85C23DB}" type="slidenum">
              <a:rPr lang="en-GH" smtClean="0"/>
              <a:t>17</a:t>
            </a:fld>
            <a:endParaRPr lang="en-GH"/>
          </a:p>
        </p:txBody>
      </p:sp>
    </p:spTree>
    <p:extLst>
      <p:ext uri="{BB962C8B-B14F-4D97-AF65-F5344CB8AC3E}">
        <p14:creationId xmlns:p14="http://schemas.microsoft.com/office/powerpoint/2010/main" val="3826579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AF2CD-4BA5-C458-E05C-12A9725889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688748B7-F6D7-C301-5983-8BBB20C19D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DE987493-62B4-ED83-92E8-B58AF66631E7}"/>
              </a:ext>
            </a:extLst>
          </p:cNvPr>
          <p:cNvSpPr>
            <a:spLocks noGrp="1"/>
          </p:cNvSpPr>
          <p:nvPr>
            <p:ph type="dt" sz="half" idx="10"/>
          </p:nvPr>
        </p:nvSpPr>
        <p:spPr/>
        <p:txBody>
          <a:bodyPr/>
          <a:lstStyle/>
          <a:p>
            <a:fld id="{67D9FF21-74AE-4AEC-B8BE-8FAE463A4EB6}" type="datetime8">
              <a:rPr lang="en-GH" smtClean="0"/>
              <a:t>09/27/2026 17:16</a:t>
            </a:fld>
            <a:endParaRPr lang="en-GH"/>
          </a:p>
        </p:txBody>
      </p:sp>
      <p:sp>
        <p:nvSpPr>
          <p:cNvPr id="5" name="Footer Placeholder 4">
            <a:extLst>
              <a:ext uri="{FF2B5EF4-FFF2-40B4-BE49-F238E27FC236}">
                <a16:creationId xmlns:a16="http://schemas.microsoft.com/office/drawing/2014/main" id="{217CA8C0-6DDF-7F6C-E7FC-806E212F9601}"/>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49A7EAEE-6017-0DB7-C73E-B250217C5061}"/>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2414526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5EB4-5206-10EC-341E-DD1302CC969E}"/>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2D62BF0-41AE-0BF9-B03C-4B2E01E2A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D2CF3B2F-B133-A9DE-4545-06641A7AC11C}"/>
              </a:ext>
            </a:extLst>
          </p:cNvPr>
          <p:cNvSpPr>
            <a:spLocks noGrp="1"/>
          </p:cNvSpPr>
          <p:nvPr>
            <p:ph type="dt" sz="half" idx="10"/>
          </p:nvPr>
        </p:nvSpPr>
        <p:spPr/>
        <p:txBody>
          <a:bodyPr/>
          <a:lstStyle/>
          <a:p>
            <a:fld id="{90570670-A3CD-4AA4-8BC5-8F05553677A9}" type="datetime8">
              <a:rPr lang="en-GH" smtClean="0"/>
              <a:t>09/27/2026 17:16</a:t>
            </a:fld>
            <a:endParaRPr lang="en-GH"/>
          </a:p>
        </p:txBody>
      </p:sp>
      <p:sp>
        <p:nvSpPr>
          <p:cNvPr id="5" name="Footer Placeholder 4">
            <a:extLst>
              <a:ext uri="{FF2B5EF4-FFF2-40B4-BE49-F238E27FC236}">
                <a16:creationId xmlns:a16="http://schemas.microsoft.com/office/drawing/2014/main" id="{0EB88329-A399-C3BE-CF07-B42915CC5D6B}"/>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857D67F-691C-ED52-3907-5EEE04E338A8}"/>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3525315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C674-1D96-16F4-76AB-B901E209B4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C30CEA09-853C-1977-2970-D41C5B69B5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8057EA-5F11-F8C9-595B-02FBAFD56566}"/>
              </a:ext>
            </a:extLst>
          </p:cNvPr>
          <p:cNvSpPr>
            <a:spLocks noGrp="1"/>
          </p:cNvSpPr>
          <p:nvPr>
            <p:ph type="dt" sz="half" idx="10"/>
          </p:nvPr>
        </p:nvSpPr>
        <p:spPr/>
        <p:txBody>
          <a:bodyPr/>
          <a:lstStyle/>
          <a:p>
            <a:fld id="{F925BB12-5B6B-4D43-9D81-BC4393BC39F2}" type="datetime8">
              <a:rPr lang="en-GH" smtClean="0"/>
              <a:t>09/27/2026 17:16</a:t>
            </a:fld>
            <a:endParaRPr lang="en-GH"/>
          </a:p>
        </p:txBody>
      </p:sp>
      <p:sp>
        <p:nvSpPr>
          <p:cNvPr id="5" name="Footer Placeholder 4">
            <a:extLst>
              <a:ext uri="{FF2B5EF4-FFF2-40B4-BE49-F238E27FC236}">
                <a16:creationId xmlns:a16="http://schemas.microsoft.com/office/drawing/2014/main" id="{B22D3F38-3164-E9D0-DCAD-5FF71F2CBFC9}"/>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4D7EE218-8FF6-20A2-B10D-E941270C3FE6}"/>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52736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C2105-822F-6F30-00F6-67D4ED6D60FD}"/>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6FF6B8AD-3AFD-7442-F81A-B0022FC181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143789BB-2150-30F8-D09F-B233D75319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98D9D6F4-7FF3-104C-314E-EAEFCC1F6164}"/>
              </a:ext>
            </a:extLst>
          </p:cNvPr>
          <p:cNvSpPr>
            <a:spLocks noGrp="1"/>
          </p:cNvSpPr>
          <p:nvPr>
            <p:ph type="dt" sz="half" idx="10"/>
          </p:nvPr>
        </p:nvSpPr>
        <p:spPr/>
        <p:txBody>
          <a:bodyPr/>
          <a:lstStyle/>
          <a:p>
            <a:fld id="{B1C874A8-5075-45C2-9454-9F509EED6D06}" type="datetime8">
              <a:rPr lang="en-GH" smtClean="0"/>
              <a:t>09/27/2026 17:16</a:t>
            </a:fld>
            <a:endParaRPr lang="en-GH"/>
          </a:p>
        </p:txBody>
      </p:sp>
      <p:sp>
        <p:nvSpPr>
          <p:cNvPr id="6" name="Footer Placeholder 5">
            <a:extLst>
              <a:ext uri="{FF2B5EF4-FFF2-40B4-BE49-F238E27FC236}">
                <a16:creationId xmlns:a16="http://schemas.microsoft.com/office/drawing/2014/main" id="{44133626-D1ED-20ED-64B1-68173AA8D4E0}"/>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D071409E-16B4-389B-4761-B03D225A2A58}"/>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253843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1456C-006B-7907-973C-D22597F8064E}"/>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6E99C512-EF34-3C3A-E20A-C6484479F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1BC2EC-A27A-7012-B7EE-82039663CE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742D6BED-3A4A-23CA-6FFE-422E2ADE29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0BB67A-A8AF-44DE-C8D9-10A3157BC5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F79B7C97-17DE-DDFB-FBF0-E500F9E60680}"/>
              </a:ext>
            </a:extLst>
          </p:cNvPr>
          <p:cNvSpPr>
            <a:spLocks noGrp="1"/>
          </p:cNvSpPr>
          <p:nvPr>
            <p:ph type="dt" sz="half" idx="10"/>
          </p:nvPr>
        </p:nvSpPr>
        <p:spPr/>
        <p:txBody>
          <a:bodyPr/>
          <a:lstStyle/>
          <a:p>
            <a:fld id="{877F3804-0038-4C68-AA0A-FFB13DA35266}" type="datetime8">
              <a:rPr lang="en-GH" smtClean="0"/>
              <a:t>09/27/2026 17:16</a:t>
            </a:fld>
            <a:endParaRPr lang="en-GH"/>
          </a:p>
        </p:txBody>
      </p:sp>
      <p:sp>
        <p:nvSpPr>
          <p:cNvPr id="8" name="Footer Placeholder 7">
            <a:extLst>
              <a:ext uri="{FF2B5EF4-FFF2-40B4-BE49-F238E27FC236}">
                <a16:creationId xmlns:a16="http://schemas.microsoft.com/office/drawing/2014/main" id="{3766C439-A1B4-A13D-9D4E-329D8BE59795}"/>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D7F875A9-2662-E6B8-CAF3-5F0003E084FB}"/>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46860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BAAA-C3EF-0758-8FD6-DD6AAE9C00AE}"/>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66D9A989-9CE4-DEBF-29A5-37FDFE78B002}"/>
              </a:ext>
            </a:extLst>
          </p:cNvPr>
          <p:cNvSpPr>
            <a:spLocks noGrp="1"/>
          </p:cNvSpPr>
          <p:nvPr>
            <p:ph type="dt" sz="half" idx="10"/>
          </p:nvPr>
        </p:nvSpPr>
        <p:spPr/>
        <p:txBody>
          <a:bodyPr/>
          <a:lstStyle/>
          <a:p>
            <a:fld id="{059B20CA-A334-4940-BA45-0EEF1D409619}" type="datetime8">
              <a:rPr lang="en-GH" smtClean="0"/>
              <a:t>09/27/2026 17:16</a:t>
            </a:fld>
            <a:endParaRPr lang="en-GH"/>
          </a:p>
        </p:txBody>
      </p:sp>
      <p:sp>
        <p:nvSpPr>
          <p:cNvPr id="4" name="Footer Placeholder 3">
            <a:extLst>
              <a:ext uri="{FF2B5EF4-FFF2-40B4-BE49-F238E27FC236}">
                <a16:creationId xmlns:a16="http://schemas.microsoft.com/office/drawing/2014/main" id="{F1ED2463-4C5F-A3BF-1B78-D3BB54EAF902}"/>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CA1134A5-288F-B701-49A9-CE9002FFFDE5}"/>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2987958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63CD02-A012-BCBC-9233-AABABB591D08}"/>
              </a:ext>
            </a:extLst>
          </p:cNvPr>
          <p:cNvSpPr>
            <a:spLocks noGrp="1"/>
          </p:cNvSpPr>
          <p:nvPr>
            <p:ph type="dt" sz="half" idx="10"/>
          </p:nvPr>
        </p:nvSpPr>
        <p:spPr/>
        <p:txBody>
          <a:bodyPr/>
          <a:lstStyle/>
          <a:p>
            <a:fld id="{ED8A4578-FC7C-4A6B-98DA-67D48598A927}" type="datetime8">
              <a:rPr lang="en-GH" smtClean="0"/>
              <a:t>09/27/2026 17:16</a:t>
            </a:fld>
            <a:endParaRPr lang="en-GH"/>
          </a:p>
        </p:txBody>
      </p:sp>
      <p:sp>
        <p:nvSpPr>
          <p:cNvPr id="3" name="Footer Placeholder 2">
            <a:extLst>
              <a:ext uri="{FF2B5EF4-FFF2-40B4-BE49-F238E27FC236}">
                <a16:creationId xmlns:a16="http://schemas.microsoft.com/office/drawing/2014/main" id="{C0AA9139-70D3-BA64-D9D0-FD9CD808B83D}"/>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5B917A4A-A775-46AB-6F1D-E9DC7482CEC3}"/>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284841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D062-5586-E1DB-3353-41D0C990E6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D8E53E7B-FDA0-DA5E-A9F0-6F87FD37E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CF85D46F-203F-F6A9-C18C-D64FD53BC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6AEA7-44F7-3B5D-BCBF-535006EBCDD2}"/>
              </a:ext>
            </a:extLst>
          </p:cNvPr>
          <p:cNvSpPr>
            <a:spLocks noGrp="1"/>
          </p:cNvSpPr>
          <p:nvPr>
            <p:ph type="dt" sz="half" idx="10"/>
          </p:nvPr>
        </p:nvSpPr>
        <p:spPr/>
        <p:txBody>
          <a:bodyPr/>
          <a:lstStyle/>
          <a:p>
            <a:fld id="{229D43D2-BB93-4E2D-B25F-2AACE5A2D8CC}" type="datetime8">
              <a:rPr lang="en-GH" smtClean="0"/>
              <a:t>09/27/2026 17:16</a:t>
            </a:fld>
            <a:endParaRPr lang="en-GH"/>
          </a:p>
        </p:txBody>
      </p:sp>
      <p:sp>
        <p:nvSpPr>
          <p:cNvPr id="6" name="Footer Placeholder 5">
            <a:extLst>
              <a:ext uri="{FF2B5EF4-FFF2-40B4-BE49-F238E27FC236}">
                <a16:creationId xmlns:a16="http://schemas.microsoft.com/office/drawing/2014/main" id="{C8DEE385-9CB3-324D-DD99-014EA6F11212}"/>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26B6BB32-1BD2-C76E-38EC-C9DCCFEF7C27}"/>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234569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EDCC1-7C6B-7326-CF9D-7FE9172CE3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3A12A261-F5EC-1202-8A57-3F7E6689F7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C68AF3D7-497C-B1E4-238A-7579AE337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BF7043-C11D-DE82-D407-74C3D860D0E9}"/>
              </a:ext>
            </a:extLst>
          </p:cNvPr>
          <p:cNvSpPr>
            <a:spLocks noGrp="1"/>
          </p:cNvSpPr>
          <p:nvPr>
            <p:ph type="dt" sz="half" idx="10"/>
          </p:nvPr>
        </p:nvSpPr>
        <p:spPr/>
        <p:txBody>
          <a:bodyPr/>
          <a:lstStyle/>
          <a:p>
            <a:fld id="{A53737D9-F215-4B28-9225-1031453FC145}" type="datetime8">
              <a:rPr lang="en-GH" smtClean="0"/>
              <a:t>09/27/2026 17:16</a:t>
            </a:fld>
            <a:endParaRPr lang="en-GH"/>
          </a:p>
        </p:txBody>
      </p:sp>
      <p:sp>
        <p:nvSpPr>
          <p:cNvPr id="6" name="Footer Placeholder 5">
            <a:extLst>
              <a:ext uri="{FF2B5EF4-FFF2-40B4-BE49-F238E27FC236}">
                <a16:creationId xmlns:a16="http://schemas.microsoft.com/office/drawing/2014/main" id="{059661E3-3846-7942-F5D6-FD6476B6DC35}"/>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9859E7C9-1909-2DE0-5D44-D30005E01E55}"/>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821749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1F3F5-4099-4F1C-342E-0C869C03870E}"/>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51B535BE-5D06-C3FC-4EBC-DC57960C38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0AE82611-B2CC-36AB-8323-F7A3BEF9F80B}"/>
              </a:ext>
            </a:extLst>
          </p:cNvPr>
          <p:cNvSpPr>
            <a:spLocks noGrp="1"/>
          </p:cNvSpPr>
          <p:nvPr>
            <p:ph type="dt" sz="half" idx="10"/>
          </p:nvPr>
        </p:nvSpPr>
        <p:spPr/>
        <p:txBody>
          <a:bodyPr/>
          <a:lstStyle/>
          <a:p>
            <a:fld id="{B2F826FB-CB35-4A5A-A093-2F59C9488E21}" type="datetime8">
              <a:rPr lang="en-GH" smtClean="0"/>
              <a:t>09/27/2026 17:16</a:t>
            </a:fld>
            <a:endParaRPr lang="en-GH"/>
          </a:p>
        </p:txBody>
      </p:sp>
      <p:sp>
        <p:nvSpPr>
          <p:cNvPr id="5" name="Footer Placeholder 4">
            <a:extLst>
              <a:ext uri="{FF2B5EF4-FFF2-40B4-BE49-F238E27FC236}">
                <a16:creationId xmlns:a16="http://schemas.microsoft.com/office/drawing/2014/main" id="{9F9BDD3E-54A2-ED10-3D20-B1CA06A84D23}"/>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C81D85E-0F1D-42B1-B5B0-275939DC0A99}"/>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93197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CE8DFC-06FD-FC61-11D1-847FE5B7CA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E031505F-FBED-E56D-0E45-7924A923D3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BFFC98E-8AA9-40F4-9733-FE87F50B346E}"/>
              </a:ext>
            </a:extLst>
          </p:cNvPr>
          <p:cNvSpPr>
            <a:spLocks noGrp="1"/>
          </p:cNvSpPr>
          <p:nvPr>
            <p:ph type="dt" sz="half" idx="10"/>
          </p:nvPr>
        </p:nvSpPr>
        <p:spPr/>
        <p:txBody>
          <a:bodyPr/>
          <a:lstStyle/>
          <a:p>
            <a:fld id="{9ACF855F-96DE-4BD8-A46E-CEF896946A34}" type="datetime8">
              <a:rPr lang="en-GH" smtClean="0"/>
              <a:t>09/27/2026 17:16</a:t>
            </a:fld>
            <a:endParaRPr lang="en-GH"/>
          </a:p>
        </p:txBody>
      </p:sp>
      <p:sp>
        <p:nvSpPr>
          <p:cNvPr id="5" name="Footer Placeholder 4">
            <a:extLst>
              <a:ext uri="{FF2B5EF4-FFF2-40B4-BE49-F238E27FC236}">
                <a16:creationId xmlns:a16="http://schemas.microsoft.com/office/drawing/2014/main" id="{66A7F190-C2FF-4641-DE67-B975AFE231B5}"/>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294BD7BD-9A1A-BD58-F10B-800786393DCB}"/>
              </a:ext>
            </a:extLst>
          </p:cNvPr>
          <p:cNvSpPr>
            <a:spLocks noGrp="1"/>
          </p:cNvSpPr>
          <p:nvPr>
            <p:ph type="sldNum" sz="quarter" idx="12"/>
          </p:nvPr>
        </p:nvSpPr>
        <p:spPr/>
        <p:txBody>
          <a:bodyPr/>
          <a:lstStyle/>
          <a:p>
            <a:fld id="{242ABA46-A9AF-4B1F-8225-80AC7C2B9A79}" type="slidenum">
              <a:rPr lang="en-GH" smtClean="0"/>
              <a:t>‹#›</a:t>
            </a:fld>
            <a:endParaRPr lang="en-GH"/>
          </a:p>
        </p:txBody>
      </p:sp>
    </p:spTree>
    <p:extLst>
      <p:ext uri="{BB962C8B-B14F-4D97-AF65-F5344CB8AC3E}">
        <p14:creationId xmlns:p14="http://schemas.microsoft.com/office/powerpoint/2010/main" val="1098659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04E67-7AC3-B37A-CBCA-7E0900620C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D61B2D98-B25F-241F-200A-7686766842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DA450468-0CD7-2C50-E949-047B74617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F80485-552D-4CD3-9987-2DC136033061}" type="datetime8">
              <a:rPr lang="en-GH" smtClean="0"/>
              <a:t>09/27/2026 17:16</a:t>
            </a:fld>
            <a:endParaRPr lang="en-GH"/>
          </a:p>
        </p:txBody>
      </p:sp>
      <p:sp>
        <p:nvSpPr>
          <p:cNvPr id="5" name="Footer Placeholder 4">
            <a:extLst>
              <a:ext uri="{FF2B5EF4-FFF2-40B4-BE49-F238E27FC236}">
                <a16:creationId xmlns:a16="http://schemas.microsoft.com/office/drawing/2014/main" id="{10E94A1F-7037-C373-7CA0-F18C2F464E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AA905545-6A0C-E778-D99B-75916F054C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2ABA46-A9AF-4B1F-8225-80AC7C2B9A79}" type="slidenum">
              <a:rPr lang="en-GH" smtClean="0"/>
              <a:t>‹#›</a:t>
            </a:fld>
            <a:endParaRPr lang="en-GH"/>
          </a:p>
        </p:txBody>
      </p:sp>
    </p:spTree>
    <p:extLst>
      <p:ext uri="{BB962C8B-B14F-4D97-AF65-F5344CB8AC3E}">
        <p14:creationId xmlns:p14="http://schemas.microsoft.com/office/powerpoint/2010/main" val="157214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3.gif"/></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inker Molecular Modeling Package">
            <a:extLst>
              <a:ext uri="{FF2B5EF4-FFF2-40B4-BE49-F238E27FC236}">
                <a16:creationId xmlns:a16="http://schemas.microsoft.com/office/drawing/2014/main" id="{6EB0E9AC-4094-F28E-1D36-09CC1F61E2A2}"/>
              </a:ext>
            </a:extLst>
          </p:cNvPr>
          <p:cNvPicPr>
            <a:picLocks noChangeAspect="1"/>
          </p:cNvPicPr>
          <p:nvPr/>
        </p:nvPicPr>
        <p:blipFill>
          <a:blip r:embed="rId2"/>
          <a:stretch>
            <a:fillRect/>
          </a:stretch>
        </p:blipFill>
        <p:spPr>
          <a:xfrm>
            <a:off x="4247027" y="1466483"/>
            <a:ext cx="7487930" cy="4859357"/>
          </a:xfrm>
          <a:prstGeom prst="rect">
            <a:avLst/>
          </a:prstGeom>
        </p:spPr>
      </p:pic>
      <p:sp>
        <p:nvSpPr>
          <p:cNvPr id="2" name="Title 1">
            <a:extLst>
              <a:ext uri="{FF2B5EF4-FFF2-40B4-BE49-F238E27FC236}">
                <a16:creationId xmlns:a16="http://schemas.microsoft.com/office/drawing/2014/main" id="{B2EE954D-3564-8C40-6129-4868809B2D40}"/>
              </a:ext>
            </a:extLst>
          </p:cNvPr>
          <p:cNvSpPr>
            <a:spLocks noGrp="1"/>
          </p:cNvSpPr>
          <p:nvPr>
            <p:ph type="ctrTitle"/>
          </p:nvPr>
        </p:nvSpPr>
        <p:spPr>
          <a:xfrm>
            <a:off x="-96479" y="496985"/>
            <a:ext cx="12192000" cy="1938992"/>
          </a:xfrm>
        </p:spPr>
        <p:txBody>
          <a:bodyPr>
            <a:normAutofit/>
          </a:bodyPr>
          <a:lstStyle/>
          <a:p>
            <a:r>
              <a:rPr lang="en-US" sz="4800" b="1" dirty="0">
                <a:latin typeface="Tahoma" panose="020B0604030504040204" pitchFamily="34" charset="0"/>
                <a:ea typeface="Tahoma" panose="020B0604030504040204" pitchFamily="34" charset="0"/>
                <a:cs typeface="Tahoma" panose="020B0604030504040204" pitchFamily="34" charset="0"/>
              </a:rPr>
              <a:t>Molecular Mechanics, Modeling  and Electron Structure Method</a:t>
            </a:r>
            <a:endParaRPr lang="en-GH" sz="4800" b="1" dirty="0">
              <a:latin typeface="Tahoma" panose="020B0604030504040204" pitchFamily="34" charset="0"/>
              <a:ea typeface="Tahoma" panose="020B0604030504040204" pitchFamily="34" charset="0"/>
              <a:cs typeface="Tahoma" panose="020B0604030504040204" pitchFamily="34" charset="0"/>
            </a:endParaRPr>
          </a:p>
        </p:txBody>
      </p:sp>
      <p:sp>
        <p:nvSpPr>
          <p:cNvPr id="4" name="!!Logo bg">
            <a:hlinkClick r:id="" action="ppaction://hlinkshowjump?jump=lastslideviewed"/>
            <a:extLst>
              <a:ext uri="{FF2B5EF4-FFF2-40B4-BE49-F238E27FC236}">
                <a16:creationId xmlns:a16="http://schemas.microsoft.com/office/drawing/2014/main" id="{EED2E471-152A-D82E-B18A-D9A698E0CB2F}"/>
              </a:ext>
            </a:extLst>
          </p:cNvPr>
          <p:cNvSpPr/>
          <p:nvPr/>
        </p:nvSpPr>
        <p:spPr>
          <a:xfrm rot="5400000">
            <a:off x="-126149" y="-319982"/>
            <a:ext cx="1450276" cy="1005019"/>
          </a:xfrm>
          <a:prstGeom prst="roundRect">
            <a:avLst/>
          </a:prstGeom>
          <a:solidFill>
            <a:srgbClr val="00B0F0"/>
          </a:solidFill>
          <a:ln w="57150" cap="flat" cmpd="sng" algn="ctr">
            <a:solidFill>
              <a:schemeClr val="bg1"/>
            </a:solidFill>
            <a:prstDash val="solid"/>
            <a:miter lim="800000"/>
          </a:ln>
          <a:effectLst>
            <a:outerShdw blurRad="317500" dist="38100" dir="2700000" algn="tl" rotWithShape="0">
              <a:prstClr val="black">
                <a:alpha val="40000"/>
              </a:prst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dirty="0">
              <a:ln>
                <a:noFill/>
              </a:ln>
              <a:solidFill>
                <a:prstClr val="white"/>
              </a:solidFill>
              <a:effectLst/>
              <a:uLnTx/>
              <a:uFillTx/>
              <a:latin typeface="Lato"/>
              <a:ea typeface="+mn-ea"/>
              <a:cs typeface="+mn-cs"/>
            </a:endParaRPr>
          </a:p>
        </p:txBody>
      </p:sp>
      <p:pic>
        <p:nvPicPr>
          <p:cNvPr id="5" name="!!KNUST Logo" descr="KNUST_logo Vector.png">
            <a:hlinkClick r:id="" action="ppaction://hlinkshowjump?jump=lastslideviewed"/>
            <a:extLst>
              <a:ext uri="{FF2B5EF4-FFF2-40B4-BE49-F238E27FC236}">
                <a16:creationId xmlns:a16="http://schemas.microsoft.com/office/drawing/2014/main" id="{C03524A6-BA18-D3B5-46AF-74E79F1D162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54546" y="51379"/>
            <a:ext cx="488886" cy="698895"/>
          </a:xfrm>
          <a:prstGeom prst="rect">
            <a:avLst/>
          </a:prstGeom>
        </p:spPr>
      </p:pic>
      <p:sp>
        <p:nvSpPr>
          <p:cNvPr id="6" name="TextBox 5">
            <a:extLst>
              <a:ext uri="{FF2B5EF4-FFF2-40B4-BE49-F238E27FC236}">
                <a16:creationId xmlns:a16="http://schemas.microsoft.com/office/drawing/2014/main" id="{0D1629C4-A1B2-1E13-4D93-D5523A0F7721}"/>
              </a:ext>
            </a:extLst>
          </p:cNvPr>
          <p:cNvSpPr txBox="1"/>
          <p:nvPr/>
        </p:nvSpPr>
        <p:spPr>
          <a:xfrm>
            <a:off x="1140542" y="77660"/>
            <a:ext cx="637867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Kwame Nkrumah University of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Science &amp; Technology, Kumasi, Ghana</a:t>
            </a:r>
          </a:p>
        </p:txBody>
      </p:sp>
      <p:sp>
        <p:nvSpPr>
          <p:cNvPr id="7" name="TextBox 6">
            <a:extLst>
              <a:ext uri="{FF2B5EF4-FFF2-40B4-BE49-F238E27FC236}">
                <a16:creationId xmlns:a16="http://schemas.microsoft.com/office/drawing/2014/main" id="{14FED6A4-13FF-9E4A-91E6-B902C018B93E}"/>
              </a:ext>
            </a:extLst>
          </p:cNvPr>
          <p:cNvSpPr txBox="1"/>
          <p:nvPr/>
        </p:nvSpPr>
        <p:spPr>
          <a:xfrm>
            <a:off x="354546" y="3665328"/>
            <a:ext cx="4576126" cy="461665"/>
          </a:xfrm>
          <a:prstGeom prst="rect">
            <a:avLst/>
          </a:prstGeom>
          <a:noFill/>
        </p:spPr>
        <p:txBody>
          <a:bodyPr wrap="square" rtlCol="0">
            <a:spAutoFit/>
          </a:bodyPr>
          <a:lstStyle/>
          <a:p>
            <a:pPr algn="ctr"/>
            <a:r>
              <a:rPr lang="en-US" sz="2400" b="1" dirty="0">
                <a:latin typeface="Tahoma" panose="020B0604030504040204" pitchFamily="34" charset="0"/>
                <a:ea typeface="Tahoma" panose="020B0604030504040204" pitchFamily="34" charset="0"/>
                <a:cs typeface="Tahoma" panose="020B0604030504040204" pitchFamily="34" charset="0"/>
              </a:rPr>
              <a:t>CSSCML 2026 WORKSHOP</a:t>
            </a:r>
          </a:p>
        </p:txBody>
      </p:sp>
    </p:spTree>
    <p:extLst>
      <p:ext uri="{BB962C8B-B14F-4D97-AF65-F5344CB8AC3E}">
        <p14:creationId xmlns:p14="http://schemas.microsoft.com/office/powerpoint/2010/main" val="1631989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A5ADC-E001-C4A5-C1D9-C83730FFC4B8}"/>
            </a:ext>
          </a:extLst>
        </p:cNvPr>
        <p:cNvGrpSpPr/>
        <p:nvPr/>
      </p:nvGrpSpPr>
      <p:grpSpPr>
        <a:xfrm>
          <a:off x="0" y="0"/>
          <a:ext cx="0" cy="0"/>
          <a:chOff x="0" y="0"/>
          <a:chExt cx="0" cy="0"/>
        </a:xfrm>
      </p:grpSpPr>
      <p:sp>
        <p:nvSpPr>
          <p:cNvPr id="8" name="!!Menu bg">
            <a:extLst>
              <a:ext uri="{FF2B5EF4-FFF2-40B4-BE49-F238E27FC236}">
                <a16:creationId xmlns:a16="http://schemas.microsoft.com/office/drawing/2014/main" id="{45B2CA0F-DC07-EBF0-57B3-F74E64BCF902}"/>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 name="!!Logo bg">
            <a:hlinkClick r:id="rId2" action="ppaction://hlinksldjump" tooltip="Go to Course Title"/>
            <a:extLst>
              <a:ext uri="{FF2B5EF4-FFF2-40B4-BE49-F238E27FC236}">
                <a16:creationId xmlns:a16="http://schemas.microsoft.com/office/drawing/2014/main" id="{BE912E04-DF24-A6D1-F9A5-F62052AC3F9D}"/>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KNUST Logo" descr="KNUST_logo Vector.png">
            <a:hlinkClick r:id="rId2" action="ppaction://hlinksldjump" tooltip="Go to Course Title"/>
            <a:extLst>
              <a:ext uri="{FF2B5EF4-FFF2-40B4-BE49-F238E27FC236}">
                <a16:creationId xmlns:a16="http://schemas.microsoft.com/office/drawing/2014/main" id="{27130128-D40D-C10D-5760-5A9428941A4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1" name="TextBox 10">
            <a:extLst>
              <a:ext uri="{FF2B5EF4-FFF2-40B4-BE49-F238E27FC236}">
                <a16:creationId xmlns:a16="http://schemas.microsoft.com/office/drawing/2014/main" id="{45D92A65-C3BD-9895-6950-0CAE2E0730DB}"/>
              </a:ext>
            </a:extLst>
          </p:cNvPr>
          <p:cNvSpPr txBox="1"/>
          <p:nvPr/>
        </p:nvSpPr>
        <p:spPr>
          <a:xfrm>
            <a:off x="2271252" y="0"/>
            <a:ext cx="7595419" cy="707886"/>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Outline</a:t>
            </a:r>
            <a:endParaRPr lang="en-GH" sz="4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2" name="Slide Number Placeholder 11">
            <a:extLst>
              <a:ext uri="{FF2B5EF4-FFF2-40B4-BE49-F238E27FC236}">
                <a16:creationId xmlns:a16="http://schemas.microsoft.com/office/drawing/2014/main" id="{63C6659C-DCBC-F0CF-D539-6418EF53D81D}"/>
              </a:ext>
            </a:extLst>
          </p:cNvPr>
          <p:cNvSpPr>
            <a:spLocks noGrp="1"/>
          </p:cNvSpPr>
          <p:nvPr>
            <p:ph type="sldNum" sz="quarter" idx="12"/>
          </p:nvPr>
        </p:nvSpPr>
        <p:spPr>
          <a:xfrm>
            <a:off x="8610600" y="6356350"/>
            <a:ext cx="3175614" cy="621393"/>
          </a:xfrm>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2</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7AD448DD-4798-4D12-81AC-499C154D460A}"/>
              </a:ext>
            </a:extLst>
          </p:cNvPr>
          <p:cNvPicPr>
            <a:picLocks noChangeAspect="1"/>
          </p:cNvPicPr>
          <p:nvPr/>
        </p:nvPicPr>
        <p:blipFill>
          <a:blip r:embed="rId4"/>
          <a:stretch>
            <a:fillRect/>
          </a:stretch>
        </p:blipFill>
        <p:spPr>
          <a:xfrm>
            <a:off x="5647008" y="2845442"/>
            <a:ext cx="9525" cy="9525"/>
          </a:xfrm>
          <a:prstGeom prst="rect">
            <a:avLst/>
          </a:prstGeom>
        </p:spPr>
      </p:pic>
      <p:pic>
        <p:nvPicPr>
          <p:cNvPr id="5" name="Picture 4">
            <a:extLst>
              <a:ext uri="{FF2B5EF4-FFF2-40B4-BE49-F238E27FC236}">
                <a16:creationId xmlns:a16="http://schemas.microsoft.com/office/drawing/2014/main" id="{86BA3B01-86B7-DFB0-57F9-DFEE69D69E53}"/>
              </a:ext>
            </a:extLst>
          </p:cNvPr>
          <p:cNvPicPr>
            <a:picLocks noChangeAspect="1"/>
          </p:cNvPicPr>
          <p:nvPr/>
        </p:nvPicPr>
        <p:blipFill>
          <a:blip r:embed="rId4"/>
          <a:stretch>
            <a:fillRect/>
          </a:stretch>
        </p:blipFill>
        <p:spPr>
          <a:xfrm>
            <a:off x="5797008" y="2995442"/>
            <a:ext cx="9525" cy="9525"/>
          </a:xfrm>
          <a:prstGeom prst="rect">
            <a:avLst/>
          </a:prstGeom>
        </p:spPr>
      </p:pic>
      <p:pic>
        <p:nvPicPr>
          <p:cNvPr id="6" name="Picture 5">
            <a:extLst>
              <a:ext uri="{FF2B5EF4-FFF2-40B4-BE49-F238E27FC236}">
                <a16:creationId xmlns:a16="http://schemas.microsoft.com/office/drawing/2014/main" id="{6A7820BE-DD9E-24FD-8797-FB44DA4F8972}"/>
              </a:ext>
            </a:extLst>
          </p:cNvPr>
          <p:cNvPicPr>
            <a:picLocks noChangeAspect="1"/>
          </p:cNvPicPr>
          <p:nvPr/>
        </p:nvPicPr>
        <p:blipFill>
          <a:blip r:embed="rId4"/>
          <a:stretch>
            <a:fillRect/>
          </a:stretch>
        </p:blipFill>
        <p:spPr>
          <a:xfrm>
            <a:off x="5947008" y="3145442"/>
            <a:ext cx="9525" cy="9525"/>
          </a:xfrm>
          <a:prstGeom prst="rect">
            <a:avLst/>
          </a:prstGeom>
        </p:spPr>
      </p:pic>
      <p:pic>
        <p:nvPicPr>
          <p:cNvPr id="13" name="Picture 12">
            <a:extLst>
              <a:ext uri="{FF2B5EF4-FFF2-40B4-BE49-F238E27FC236}">
                <a16:creationId xmlns:a16="http://schemas.microsoft.com/office/drawing/2014/main" id="{646E413E-7485-1E18-811D-E45CBC8A67D4}"/>
              </a:ext>
            </a:extLst>
          </p:cNvPr>
          <p:cNvPicPr>
            <a:picLocks noChangeAspect="1"/>
          </p:cNvPicPr>
          <p:nvPr/>
        </p:nvPicPr>
        <p:blipFill>
          <a:blip r:embed="rId4"/>
          <a:stretch>
            <a:fillRect/>
          </a:stretch>
        </p:blipFill>
        <p:spPr>
          <a:xfrm>
            <a:off x="6097008" y="3295442"/>
            <a:ext cx="9525" cy="9525"/>
          </a:xfrm>
          <a:prstGeom prst="rect">
            <a:avLst/>
          </a:prstGeom>
        </p:spPr>
      </p:pic>
      <p:pic>
        <p:nvPicPr>
          <p:cNvPr id="14" name="Picture 13">
            <a:extLst>
              <a:ext uri="{FF2B5EF4-FFF2-40B4-BE49-F238E27FC236}">
                <a16:creationId xmlns:a16="http://schemas.microsoft.com/office/drawing/2014/main" id="{9EC45F9F-F5F4-4EDA-344B-5D7222FD94D1}"/>
              </a:ext>
            </a:extLst>
          </p:cNvPr>
          <p:cNvPicPr>
            <a:picLocks noChangeAspect="1"/>
          </p:cNvPicPr>
          <p:nvPr/>
        </p:nvPicPr>
        <p:blipFill>
          <a:blip r:embed="rId4"/>
          <a:stretch>
            <a:fillRect/>
          </a:stretch>
        </p:blipFill>
        <p:spPr>
          <a:xfrm>
            <a:off x="6247008" y="3445442"/>
            <a:ext cx="9525" cy="9525"/>
          </a:xfrm>
          <a:prstGeom prst="rect">
            <a:avLst/>
          </a:prstGeom>
        </p:spPr>
      </p:pic>
      <p:pic>
        <p:nvPicPr>
          <p:cNvPr id="15" name="Picture 14">
            <a:extLst>
              <a:ext uri="{FF2B5EF4-FFF2-40B4-BE49-F238E27FC236}">
                <a16:creationId xmlns:a16="http://schemas.microsoft.com/office/drawing/2014/main" id="{5B3A0929-EB43-81C9-32FB-1AC173CB9B29}"/>
              </a:ext>
            </a:extLst>
          </p:cNvPr>
          <p:cNvPicPr>
            <a:picLocks noChangeAspect="1"/>
          </p:cNvPicPr>
          <p:nvPr/>
        </p:nvPicPr>
        <p:blipFill>
          <a:blip r:embed="rId4"/>
          <a:stretch>
            <a:fillRect/>
          </a:stretch>
        </p:blipFill>
        <p:spPr>
          <a:xfrm>
            <a:off x="6397008" y="3595442"/>
            <a:ext cx="9525" cy="9525"/>
          </a:xfrm>
          <a:prstGeom prst="rect">
            <a:avLst/>
          </a:prstGeom>
        </p:spPr>
      </p:pic>
      <p:sp>
        <p:nvSpPr>
          <p:cNvPr id="2" name="Content Placeholder 2">
            <a:extLst>
              <a:ext uri="{FF2B5EF4-FFF2-40B4-BE49-F238E27FC236}">
                <a16:creationId xmlns:a16="http://schemas.microsoft.com/office/drawing/2014/main" id="{DC65480C-BDFC-32AE-AC4B-825C11B996BC}"/>
              </a:ext>
            </a:extLst>
          </p:cNvPr>
          <p:cNvSpPr>
            <a:spLocks noGrp="1"/>
          </p:cNvSpPr>
          <p:nvPr>
            <p:ph idx="1"/>
          </p:nvPr>
        </p:nvSpPr>
        <p:spPr>
          <a:xfrm>
            <a:off x="236675" y="1069749"/>
            <a:ext cx="11739716" cy="5955736"/>
          </a:xfrm>
        </p:spPr>
        <p:txBody>
          <a:bodyPr>
            <a:noAutofit/>
          </a:body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Introduction to Computational Chemistry</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Quantum Mechanical Methods</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Molecular Mechanics (MM)</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Advantages and Limitation of MM</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Potential Energy Surfaces (PES)</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Energy Profile Diagrams (EPD)</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Basis Sets</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Solving a problem (goal)/Application</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What We Do?</a:t>
            </a: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Hands-on Session</a:t>
            </a:r>
          </a:p>
        </p:txBody>
      </p:sp>
    </p:spTree>
    <p:extLst>
      <p:ext uri="{BB962C8B-B14F-4D97-AF65-F5344CB8AC3E}">
        <p14:creationId xmlns:p14="http://schemas.microsoft.com/office/powerpoint/2010/main" val="3170718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enu bg">
            <a:extLst>
              <a:ext uri="{FF2B5EF4-FFF2-40B4-BE49-F238E27FC236}">
                <a16:creationId xmlns:a16="http://schemas.microsoft.com/office/drawing/2014/main" id="{E8149E42-87C7-2B10-F763-5893A2328A96}"/>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4D3BE725-0990-CF84-1517-ED5D2F4AB57B}"/>
              </a:ext>
            </a:extLst>
          </p:cNvPr>
          <p:cNvSpPr>
            <a:spLocks noGrp="1"/>
          </p:cNvSpPr>
          <p:nvPr>
            <p:ph type="title"/>
          </p:nvPr>
        </p:nvSpPr>
        <p:spPr>
          <a:xfrm>
            <a:off x="838200" y="18256"/>
            <a:ext cx="10515600" cy="662782"/>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Computational Chemistry</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E325F11E-46EC-ADFB-87B0-95123F077D61}"/>
              </a:ext>
            </a:extLst>
          </p:cNvPr>
          <p:cNvSpPr>
            <a:spLocks noGrp="1"/>
          </p:cNvSpPr>
          <p:nvPr>
            <p:ph idx="1"/>
          </p:nvPr>
        </p:nvSpPr>
        <p:spPr>
          <a:xfrm>
            <a:off x="221226" y="811161"/>
            <a:ext cx="11724968" cy="586985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What is Computational Chemistry? </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Use of computers to help solving chemical problems (calculate the structures, properties, geometries, and reactions of molecules and solids.)</a:t>
            </a:r>
          </a:p>
          <a:p>
            <a:pPr marL="0" indent="0" algn="just">
              <a:buNone/>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Logo bg">
            <a:hlinkClick r:id="rId2" action="ppaction://hlinksldjump" tooltip="Go to Course Title"/>
            <a:extLst>
              <a:ext uri="{FF2B5EF4-FFF2-40B4-BE49-F238E27FC236}">
                <a16:creationId xmlns:a16="http://schemas.microsoft.com/office/drawing/2014/main" id="{98F6C562-23E0-70EF-68DD-C512F3F86F09}"/>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1" name="!!KNUST Logo" descr="KNUST_logo Vector.png">
            <a:hlinkClick r:id="rId2" action="ppaction://hlinksldjump" tooltip="Go to Course Title"/>
            <a:extLst>
              <a:ext uri="{FF2B5EF4-FFF2-40B4-BE49-F238E27FC236}">
                <a16:creationId xmlns:a16="http://schemas.microsoft.com/office/drawing/2014/main" id="{C468374D-E484-064B-9624-A8161308B9A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2" name="Slide Number Placeholder 11">
            <a:extLst>
              <a:ext uri="{FF2B5EF4-FFF2-40B4-BE49-F238E27FC236}">
                <a16:creationId xmlns:a16="http://schemas.microsoft.com/office/drawing/2014/main" id="{7E7A051E-0474-CC0A-6C6E-C9FE5F406309}"/>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3</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5" name="Oval 4">
            <a:extLst>
              <a:ext uri="{FF2B5EF4-FFF2-40B4-BE49-F238E27FC236}">
                <a16:creationId xmlns:a16="http://schemas.microsoft.com/office/drawing/2014/main" id="{BF7949E0-14FD-FF0E-5A9B-221010531D7E}"/>
              </a:ext>
            </a:extLst>
          </p:cNvPr>
          <p:cNvSpPr/>
          <p:nvPr/>
        </p:nvSpPr>
        <p:spPr>
          <a:xfrm>
            <a:off x="202238" y="2517015"/>
            <a:ext cx="4529781" cy="133050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b="1" dirty="0">
                <a:latin typeface="Tahoma" panose="020B0604030504040204" pitchFamily="34" charset="0"/>
                <a:ea typeface="Tahoma" panose="020B0604030504040204" pitchFamily="34" charset="0"/>
                <a:cs typeface="Tahoma" panose="020B0604030504040204" pitchFamily="34" charset="0"/>
              </a:rPr>
              <a:t>Chemical problems</a:t>
            </a:r>
            <a:endParaRPr lang="en-GH" sz="2400" dirty="0">
              <a:latin typeface="Tahoma" panose="020B0604030504040204" pitchFamily="34" charset="0"/>
              <a:ea typeface="Tahoma" panose="020B0604030504040204" pitchFamily="34" charset="0"/>
              <a:cs typeface="Tahoma" panose="020B0604030504040204" pitchFamily="34" charset="0"/>
            </a:endParaRPr>
          </a:p>
          <a:p>
            <a:pPr algn="ctr"/>
            <a:endParaRPr lang="en-US" sz="2400" dirty="0"/>
          </a:p>
        </p:txBody>
      </p:sp>
      <p:sp>
        <p:nvSpPr>
          <p:cNvPr id="7" name="Oval 6">
            <a:extLst>
              <a:ext uri="{FF2B5EF4-FFF2-40B4-BE49-F238E27FC236}">
                <a16:creationId xmlns:a16="http://schemas.microsoft.com/office/drawing/2014/main" id="{9FAA3F50-84EF-3641-C805-C83F25EC7156}"/>
              </a:ext>
            </a:extLst>
          </p:cNvPr>
          <p:cNvSpPr/>
          <p:nvPr/>
        </p:nvSpPr>
        <p:spPr>
          <a:xfrm>
            <a:off x="7035638" y="2409866"/>
            <a:ext cx="4779104" cy="151950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b="1" dirty="0">
                <a:latin typeface="Tahoma" panose="020B0604030504040204" pitchFamily="34" charset="0"/>
                <a:ea typeface="Tahoma" panose="020B0604030504040204" pitchFamily="34" charset="0"/>
                <a:cs typeface="Tahoma" panose="020B0604030504040204" pitchFamily="34" charset="0"/>
              </a:rPr>
              <a:t>Computer programs</a:t>
            </a:r>
            <a:endParaRPr lang="en-GH" sz="2400" dirty="0">
              <a:latin typeface="Tahoma" panose="020B0604030504040204" pitchFamily="34" charset="0"/>
              <a:ea typeface="Tahoma" panose="020B0604030504040204" pitchFamily="34" charset="0"/>
              <a:cs typeface="Tahoma" panose="020B0604030504040204" pitchFamily="34" charset="0"/>
            </a:endParaRPr>
          </a:p>
          <a:p>
            <a:pPr algn="ctr"/>
            <a:endParaRPr lang="en-US" sz="2400" dirty="0"/>
          </a:p>
        </p:txBody>
      </p:sp>
      <p:sp>
        <p:nvSpPr>
          <p:cNvPr id="13" name="Oval 12">
            <a:extLst>
              <a:ext uri="{FF2B5EF4-FFF2-40B4-BE49-F238E27FC236}">
                <a16:creationId xmlns:a16="http://schemas.microsoft.com/office/drawing/2014/main" id="{87BC9A9F-C7EF-F4FE-AD01-7362DF61D9AA}"/>
              </a:ext>
            </a:extLst>
          </p:cNvPr>
          <p:cNvSpPr/>
          <p:nvPr/>
        </p:nvSpPr>
        <p:spPr>
          <a:xfrm>
            <a:off x="7264074" y="5273914"/>
            <a:ext cx="4062904" cy="151950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b="1" dirty="0">
                <a:latin typeface="Tahoma" panose="020B0604030504040204" pitchFamily="34" charset="0"/>
                <a:ea typeface="Tahoma" panose="020B0604030504040204" pitchFamily="34" charset="0"/>
                <a:cs typeface="Tahoma" panose="020B0604030504040204" pitchFamily="34" charset="0"/>
              </a:rPr>
              <a:t>Math Formula</a:t>
            </a:r>
            <a:endParaRPr lang="en-GH" sz="2400" dirty="0">
              <a:latin typeface="Tahoma" panose="020B0604030504040204" pitchFamily="34" charset="0"/>
              <a:ea typeface="Tahoma" panose="020B0604030504040204" pitchFamily="34" charset="0"/>
              <a:cs typeface="Tahoma" panose="020B0604030504040204" pitchFamily="34" charset="0"/>
            </a:endParaRPr>
          </a:p>
          <a:p>
            <a:pPr algn="ctr"/>
            <a:endParaRPr lang="en-US" sz="2400" dirty="0"/>
          </a:p>
        </p:txBody>
      </p:sp>
      <p:sp>
        <p:nvSpPr>
          <p:cNvPr id="15" name="Oval 14">
            <a:extLst>
              <a:ext uri="{FF2B5EF4-FFF2-40B4-BE49-F238E27FC236}">
                <a16:creationId xmlns:a16="http://schemas.microsoft.com/office/drawing/2014/main" id="{2719BA97-17B4-07F3-BAD7-B44EBD1F2D57}"/>
              </a:ext>
            </a:extLst>
          </p:cNvPr>
          <p:cNvSpPr/>
          <p:nvPr/>
        </p:nvSpPr>
        <p:spPr>
          <a:xfrm>
            <a:off x="652276" y="5106003"/>
            <a:ext cx="3924961" cy="151950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b="1" dirty="0">
                <a:latin typeface="Tahoma" panose="020B0604030504040204" pitchFamily="34" charset="0"/>
                <a:ea typeface="Tahoma" panose="020B0604030504040204" pitchFamily="34" charset="0"/>
                <a:cs typeface="Tahoma" panose="020B0604030504040204" pitchFamily="34" charset="0"/>
              </a:rPr>
              <a:t>Physical Models</a:t>
            </a:r>
            <a:endParaRPr lang="en-GH" sz="2400" dirty="0">
              <a:latin typeface="Tahoma" panose="020B0604030504040204" pitchFamily="34" charset="0"/>
              <a:ea typeface="Tahoma" panose="020B0604030504040204" pitchFamily="34" charset="0"/>
              <a:cs typeface="Tahoma" panose="020B0604030504040204" pitchFamily="34" charset="0"/>
            </a:endParaRPr>
          </a:p>
          <a:p>
            <a:pPr algn="ctr"/>
            <a:endParaRPr lang="en-US" sz="2400" dirty="0"/>
          </a:p>
        </p:txBody>
      </p:sp>
      <p:sp>
        <p:nvSpPr>
          <p:cNvPr id="16" name="Arrow: Down 15">
            <a:extLst>
              <a:ext uri="{FF2B5EF4-FFF2-40B4-BE49-F238E27FC236}">
                <a16:creationId xmlns:a16="http://schemas.microsoft.com/office/drawing/2014/main" id="{8A251AC2-F68B-1A72-1397-935A5B7C446C}"/>
              </a:ext>
            </a:extLst>
          </p:cNvPr>
          <p:cNvSpPr/>
          <p:nvPr/>
        </p:nvSpPr>
        <p:spPr>
          <a:xfrm>
            <a:off x="2041081" y="3977642"/>
            <a:ext cx="791181" cy="108467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F63B3B6B-6DCF-63A5-B647-427F4238DD49}"/>
              </a:ext>
            </a:extLst>
          </p:cNvPr>
          <p:cNvSpPr/>
          <p:nvPr/>
        </p:nvSpPr>
        <p:spPr>
          <a:xfrm rot="10800000">
            <a:off x="9053209" y="4114551"/>
            <a:ext cx="791181" cy="1046963"/>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1E512F2A-3C1A-3ADD-984F-280AC9A30737}"/>
              </a:ext>
            </a:extLst>
          </p:cNvPr>
          <p:cNvSpPr/>
          <p:nvPr/>
        </p:nvSpPr>
        <p:spPr>
          <a:xfrm rot="5400000">
            <a:off x="5572605" y="2142556"/>
            <a:ext cx="769844" cy="1893316"/>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0978AC38-BFEB-47CC-B255-CD6AC1B2024E}"/>
              </a:ext>
            </a:extLst>
          </p:cNvPr>
          <p:cNvSpPr/>
          <p:nvPr/>
        </p:nvSpPr>
        <p:spPr>
          <a:xfrm rot="16200000">
            <a:off x="5389247" y="5171670"/>
            <a:ext cx="962072" cy="1723991"/>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8785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nu bg">
            <a:extLst>
              <a:ext uri="{FF2B5EF4-FFF2-40B4-BE49-F238E27FC236}">
                <a16:creationId xmlns:a16="http://schemas.microsoft.com/office/drawing/2014/main" id="{4869BE27-FEAF-95ED-30CD-1AAFBF2BF3DB}"/>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 name="!!Logo bg">
            <a:hlinkClick r:id="rId2" action="ppaction://hlinksldjump" tooltip="Go to Course Title"/>
            <a:extLst>
              <a:ext uri="{FF2B5EF4-FFF2-40B4-BE49-F238E27FC236}">
                <a16:creationId xmlns:a16="http://schemas.microsoft.com/office/drawing/2014/main" id="{8D44E9B7-CD73-B738-74CB-6AAAD9A68A9F}"/>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KNUST Logo" descr="KNUST_logo Vector.png">
            <a:hlinkClick r:id="rId2" action="ppaction://hlinksldjump" tooltip="Go to Course Title"/>
            <a:extLst>
              <a:ext uri="{FF2B5EF4-FFF2-40B4-BE49-F238E27FC236}">
                <a16:creationId xmlns:a16="http://schemas.microsoft.com/office/drawing/2014/main" id="{FCC5F29D-966A-B1D1-72A8-6D4E4233033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1" name="TextBox 10">
            <a:extLst>
              <a:ext uri="{FF2B5EF4-FFF2-40B4-BE49-F238E27FC236}">
                <a16:creationId xmlns:a16="http://schemas.microsoft.com/office/drawing/2014/main" id="{DF6C4B9A-EC0C-DF3A-164E-809AE5EA177C}"/>
              </a:ext>
            </a:extLst>
          </p:cNvPr>
          <p:cNvSpPr txBox="1"/>
          <p:nvPr/>
        </p:nvSpPr>
        <p:spPr>
          <a:xfrm>
            <a:off x="2271252" y="0"/>
            <a:ext cx="7595419" cy="707886"/>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Computational Tools</a:t>
            </a:r>
            <a:endParaRPr lang="en-GH" sz="4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2" name="Slide Number Placeholder 11">
            <a:extLst>
              <a:ext uri="{FF2B5EF4-FFF2-40B4-BE49-F238E27FC236}">
                <a16:creationId xmlns:a16="http://schemas.microsoft.com/office/drawing/2014/main" id="{C40CDE3D-F3CC-DC50-DA99-11933C3DB93C}"/>
              </a:ext>
            </a:extLst>
          </p:cNvPr>
          <p:cNvSpPr>
            <a:spLocks noGrp="1"/>
          </p:cNvSpPr>
          <p:nvPr>
            <p:ph type="sldNum" sz="quarter" idx="12"/>
          </p:nvPr>
        </p:nvSpPr>
        <p:spPr>
          <a:xfrm>
            <a:off x="8610600" y="6356350"/>
            <a:ext cx="3175614" cy="621393"/>
          </a:xfrm>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4</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6FF2EDD6-899D-B191-9071-F4483A8CDEF6}"/>
              </a:ext>
            </a:extLst>
          </p:cNvPr>
          <p:cNvPicPr>
            <a:picLocks noChangeAspect="1"/>
          </p:cNvPicPr>
          <p:nvPr/>
        </p:nvPicPr>
        <p:blipFill>
          <a:blip r:embed="rId4"/>
          <a:stretch>
            <a:fillRect/>
          </a:stretch>
        </p:blipFill>
        <p:spPr>
          <a:xfrm>
            <a:off x="5647008" y="2845442"/>
            <a:ext cx="9525" cy="9525"/>
          </a:xfrm>
          <a:prstGeom prst="rect">
            <a:avLst/>
          </a:prstGeom>
        </p:spPr>
      </p:pic>
      <p:pic>
        <p:nvPicPr>
          <p:cNvPr id="5" name="Picture 4">
            <a:extLst>
              <a:ext uri="{FF2B5EF4-FFF2-40B4-BE49-F238E27FC236}">
                <a16:creationId xmlns:a16="http://schemas.microsoft.com/office/drawing/2014/main" id="{AACEA284-F4DE-B55E-7B28-8EE65F295C3F}"/>
              </a:ext>
            </a:extLst>
          </p:cNvPr>
          <p:cNvPicPr>
            <a:picLocks noChangeAspect="1"/>
          </p:cNvPicPr>
          <p:nvPr/>
        </p:nvPicPr>
        <p:blipFill>
          <a:blip r:embed="rId4"/>
          <a:stretch>
            <a:fillRect/>
          </a:stretch>
        </p:blipFill>
        <p:spPr>
          <a:xfrm>
            <a:off x="5797008" y="2995442"/>
            <a:ext cx="9525" cy="9525"/>
          </a:xfrm>
          <a:prstGeom prst="rect">
            <a:avLst/>
          </a:prstGeom>
        </p:spPr>
      </p:pic>
      <p:pic>
        <p:nvPicPr>
          <p:cNvPr id="6" name="Picture 5">
            <a:extLst>
              <a:ext uri="{FF2B5EF4-FFF2-40B4-BE49-F238E27FC236}">
                <a16:creationId xmlns:a16="http://schemas.microsoft.com/office/drawing/2014/main" id="{4DC24B43-56B4-C095-B409-61F846EB482D}"/>
              </a:ext>
            </a:extLst>
          </p:cNvPr>
          <p:cNvPicPr>
            <a:picLocks noChangeAspect="1"/>
          </p:cNvPicPr>
          <p:nvPr/>
        </p:nvPicPr>
        <p:blipFill>
          <a:blip r:embed="rId4"/>
          <a:stretch>
            <a:fillRect/>
          </a:stretch>
        </p:blipFill>
        <p:spPr>
          <a:xfrm>
            <a:off x="5947008" y="3145442"/>
            <a:ext cx="9525" cy="9525"/>
          </a:xfrm>
          <a:prstGeom prst="rect">
            <a:avLst/>
          </a:prstGeom>
        </p:spPr>
      </p:pic>
      <p:pic>
        <p:nvPicPr>
          <p:cNvPr id="13" name="Picture 12">
            <a:extLst>
              <a:ext uri="{FF2B5EF4-FFF2-40B4-BE49-F238E27FC236}">
                <a16:creationId xmlns:a16="http://schemas.microsoft.com/office/drawing/2014/main" id="{FDE1F91D-D323-1E6C-DA8D-8C3FE832E734}"/>
              </a:ext>
            </a:extLst>
          </p:cNvPr>
          <p:cNvPicPr>
            <a:picLocks noChangeAspect="1"/>
          </p:cNvPicPr>
          <p:nvPr/>
        </p:nvPicPr>
        <p:blipFill>
          <a:blip r:embed="rId4"/>
          <a:stretch>
            <a:fillRect/>
          </a:stretch>
        </p:blipFill>
        <p:spPr>
          <a:xfrm>
            <a:off x="6097008" y="3295442"/>
            <a:ext cx="9525" cy="9525"/>
          </a:xfrm>
          <a:prstGeom prst="rect">
            <a:avLst/>
          </a:prstGeom>
        </p:spPr>
      </p:pic>
      <p:pic>
        <p:nvPicPr>
          <p:cNvPr id="14" name="Picture 13">
            <a:extLst>
              <a:ext uri="{FF2B5EF4-FFF2-40B4-BE49-F238E27FC236}">
                <a16:creationId xmlns:a16="http://schemas.microsoft.com/office/drawing/2014/main" id="{FD0AC6EE-D658-4B3A-B0C3-9A3908CB65AF}"/>
              </a:ext>
            </a:extLst>
          </p:cNvPr>
          <p:cNvPicPr>
            <a:picLocks noChangeAspect="1"/>
          </p:cNvPicPr>
          <p:nvPr/>
        </p:nvPicPr>
        <p:blipFill>
          <a:blip r:embed="rId4"/>
          <a:stretch>
            <a:fillRect/>
          </a:stretch>
        </p:blipFill>
        <p:spPr>
          <a:xfrm>
            <a:off x="6247008" y="3445442"/>
            <a:ext cx="9525" cy="9525"/>
          </a:xfrm>
          <a:prstGeom prst="rect">
            <a:avLst/>
          </a:prstGeom>
        </p:spPr>
      </p:pic>
      <p:pic>
        <p:nvPicPr>
          <p:cNvPr id="15" name="Picture 14">
            <a:extLst>
              <a:ext uri="{FF2B5EF4-FFF2-40B4-BE49-F238E27FC236}">
                <a16:creationId xmlns:a16="http://schemas.microsoft.com/office/drawing/2014/main" id="{6F7246CE-6B8A-D7D5-7572-69B33C586784}"/>
              </a:ext>
            </a:extLst>
          </p:cNvPr>
          <p:cNvPicPr>
            <a:picLocks noChangeAspect="1"/>
          </p:cNvPicPr>
          <p:nvPr/>
        </p:nvPicPr>
        <p:blipFill>
          <a:blip r:embed="rId4"/>
          <a:stretch>
            <a:fillRect/>
          </a:stretch>
        </p:blipFill>
        <p:spPr>
          <a:xfrm>
            <a:off x="6397008" y="3595442"/>
            <a:ext cx="9525" cy="9525"/>
          </a:xfrm>
          <a:prstGeom prst="rect">
            <a:avLst/>
          </a:prstGeom>
        </p:spPr>
      </p:pic>
      <p:pic>
        <p:nvPicPr>
          <p:cNvPr id="3" name="Picture 2">
            <a:extLst>
              <a:ext uri="{FF2B5EF4-FFF2-40B4-BE49-F238E27FC236}">
                <a16:creationId xmlns:a16="http://schemas.microsoft.com/office/drawing/2014/main" id="{9A0F9E2A-56E7-D055-2EF4-67AAF465CC7D}"/>
              </a:ext>
            </a:extLst>
          </p:cNvPr>
          <p:cNvPicPr>
            <a:picLocks noChangeAspect="1"/>
          </p:cNvPicPr>
          <p:nvPr/>
        </p:nvPicPr>
        <p:blipFill>
          <a:blip r:embed="rId5">
            <a:extLst>
              <a:ext uri="{28A0092B-C50C-407E-A947-70E740481C1C}">
                <a14:useLocalDpi xmlns:a14="http://schemas.microsoft.com/office/drawing/2010/main" val="0"/>
              </a:ext>
            </a:extLst>
          </a:blip>
          <a:srcRect l="357" t="4638"/>
          <a:stretch>
            <a:fillRect/>
          </a:stretch>
        </p:blipFill>
        <p:spPr>
          <a:xfrm>
            <a:off x="691123" y="625979"/>
            <a:ext cx="11095091" cy="58945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98905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nu bg">
            <a:extLst>
              <a:ext uri="{FF2B5EF4-FFF2-40B4-BE49-F238E27FC236}">
                <a16:creationId xmlns:a16="http://schemas.microsoft.com/office/drawing/2014/main" id="{AA746A38-5B19-9162-F8CD-090549E4F952}"/>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4C3C8E6-C16D-2F90-9C39-21DCF6174C6B}"/>
              </a:ext>
            </a:extLst>
          </p:cNvPr>
          <p:cNvSpPr>
            <a:spLocks noGrp="1"/>
          </p:cNvSpPr>
          <p:nvPr>
            <p:ph type="title"/>
          </p:nvPr>
        </p:nvSpPr>
        <p:spPr>
          <a:xfrm>
            <a:off x="838200" y="18256"/>
            <a:ext cx="10515600" cy="662782"/>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Quantum Chemical Methods</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274D0A1C-C0C0-506A-8A4E-BF04BD8A8B0A}"/>
              </a:ext>
            </a:extLst>
          </p:cNvPr>
          <p:cNvSpPr>
            <a:spLocks noGrp="1"/>
          </p:cNvSpPr>
          <p:nvPr>
            <p:ph idx="1"/>
          </p:nvPr>
        </p:nvSpPr>
        <p:spPr>
          <a:xfrm>
            <a:off x="287095" y="651541"/>
            <a:ext cx="11739716" cy="5955736"/>
          </a:xfrm>
        </p:spPr>
        <p:txBody>
          <a:bodyPr>
            <a:noAutofit/>
          </a:bodyPr>
          <a:lstStyle/>
          <a:p>
            <a:r>
              <a:rPr lang="en-US" sz="2400" dirty="0">
                <a:latin typeface="Times New Roman" panose="02020603050405020304" pitchFamily="18" charset="0"/>
                <a:cs typeface="Times New Roman" panose="02020603050405020304" pitchFamily="18" charset="0"/>
              </a:rPr>
              <a:t>Th e most commonly used quantum chemistry methods are: </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Ab initio methods: </a:t>
            </a:r>
            <a:r>
              <a:rPr lang="en-US" sz="2400" dirty="0">
                <a:latin typeface="Times New Roman" panose="02020603050405020304" pitchFamily="18" charset="0"/>
                <a:cs typeface="Times New Roman" panose="02020603050405020304" pitchFamily="18" charset="0"/>
              </a:rPr>
              <a:t> where the solution of the Schrödinger equation is obtained from first principles of quantum chemistry using rigorous mathematical approximations, and without using empirical data. In the frame of ab initio methods there are two strategies to solve equation: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Wave function-based methods</a:t>
            </a:r>
            <a:r>
              <a:rPr lang="en-US" dirty="0">
                <a:latin typeface="Times New Roman" panose="02020603050405020304" pitchFamily="18" charset="0"/>
                <a:cs typeface="Times New Roman" panose="02020603050405020304" pitchFamily="18" charset="0"/>
              </a:rPr>
              <a:t>: which are based on obtaining the wave function of the system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Density functional based methods</a:t>
            </a:r>
            <a:r>
              <a:rPr lang="en-US" dirty="0">
                <a:latin typeface="Times New Roman" panose="02020603050405020304" pitchFamily="18" charset="0"/>
                <a:cs typeface="Times New Roman" panose="02020603050405020304" pitchFamily="18" charset="0"/>
              </a:rPr>
              <a:t>: that consist in the study of the properties of the system through its electronic density, but avoiding the explicit determination of the electronic wave function.</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Semi-empirical methods:</a:t>
            </a:r>
            <a:r>
              <a:rPr lang="en-US" sz="2400" dirty="0">
                <a:latin typeface="Times New Roman" panose="02020603050405020304" pitchFamily="18" charset="0"/>
                <a:cs typeface="Times New Roman" panose="02020603050405020304" pitchFamily="18" charset="0"/>
              </a:rPr>
              <a:t> which are less accurate methods that use experimental results to avoid the solution of some terms that appear in the equations in the ab initio methods.</a:t>
            </a:r>
            <a:endParaRPr lang="en-US" sz="2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Logo bg">
            <a:hlinkClick r:id="rId2" action="ppaction://hlinksldjump" tooltip="Go to Course Title"/>
            <a:extLst>
              <a:ext uri="{FF2B5EF4-FFF2-40B4-BE49-F238E27FC236}">
                <a16:creationId xmlns:a16="http://schemas.microsoft.com/office/drawing/2014/main" id="{DAB15112-D361-C0F7-F5C2-813EEBF4EB35}"/>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KNUST Logo" descr="KNUST_logo Vector.png">
            <a:hlinkClick r:id="rId2" action="ppaction://hlinksldjump" tooltip="Go to Course Title"/>
            <a:extLst>
              <a:ext uri="{FF2B5EF4-FFF2-40B4-BE49-F238E27FC236}">
                <a16:creationId xmlns:a16="http://schemas.microsoft.com/office/drawing/2014/main" id="{200A9AAC-EDC9-65ED-E83E-92889C09412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1" name="Slide Number Placeholder 10">
            <a:extLst>
              <a:ext uri="{FF2B5EF4-FFF2-40B4-BE49-F238E27FC236}">
                <a16:creationId xmlns:a16="http://schemas.microsoft.com/office/drawing/2014/main" id="{39B2650C-A955-5F33-09BD-F93E86568C66}"/>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5</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2217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nu bg">
            <a:extLst>
              <a:ext uri="{FF2B5EF4-FFF2-40B4-BE49-F238E27FC236}">
                <a16:creationId xmlns:a16="http://schemas.microsoft.com/office/drawing/2014/main" id="{D2F852EE-742E-DD65-715C-74DCBBA7F729}"/>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93BBD692-57E8-F6A2-7A63-EC5678AFFDB3}"/>
              </a:ext>
            </a:extLst>
          </p:cNvPr>
          <p:cNvSpPr>
            <a:spLocks noGrp="1"/>
          </p:cNvSpPr>
          <p:nvPr>
            <p:ph type="title"/>
          </p:nvPr>
        </p:nvSpPr>
        <p:spPr>
          <a:xfrm>
            <a:off x="634181" y="12674"/>
            <a:ext cx="10719619" cy="613306"/>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The </a:t>
            </a:r>
            <a:r>
              <a:rPr lang="en-US" b="1" dirty="0" err="1">
                <a:solidFill>
                  <a:schemeClr val="bg1"/>
                </a:solidFill>
                <a:latin typeface="Tahoma" panose="020B0604030504040204" pitchFamily="34" charset="0"/>
                <a:ea typeface="Tahoma" panose="020B0604030504040204" pitchFamily="34" charset="0"/>
                <a:cs typeface="Tahoma" panose="020B0604030504040204" pitchFamily="34" charset="0"/>
              </a:rPr>
              <a:t>Hatree</a:t>
            </a: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-Fock Method</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62F92D84-F714-2902-89C1-7975E1B2AF9F}"/>
              </a:ext>
            </a:extLst>
          </p:cNvPr>
          <p:cNvSpPr>
            <a:spLocks noGrp="1"/>
          </p:cNvSpPr>
          <p:nvPr>
            <p:ph idx="1"/>
          </p:nvPr>
        </p:nvSpPr>
        <p:spPr>
          <a:xfrm>
            <a:off x="162231" y="840658"/>
            <a:ext cx="11828207" cy="5840361"/>
          </a:xfrm>
        </p:spPr>
        <p:txBody>
          <a:bodyPr>
            <a:noAutofit/>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The first and most relevant ab initio method is the Hartree-Fock method introduced by Douglas Hartree (1927) and improved by Vladimir Fock.  </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This procedure, was also called self-consistent field (SCF) method, is used to calculate approximate wave functions and energies for atoms and ions. </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The HF method assumes that the exact, N-body wave function of the system can be approximated by a single Slater determinant (fermions) of N spin-orbitals. This means that it is antisymmetric upon interchange of electron coordinates.</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The major deficiency of the Hartree-Fock method is </a:t>
            </a:r>
            <a:r>
              <a:rPr lang="en-US" sz="2400" b="1" dirty="0">
                <a:latin typeface="Times New Roman" panose="02020603050405020304" pitchFamily="18" charset="0"/>
                <a:cs typeface="Times New Roman" panose="02020603050405020304" pitchFamily="18" charset="0"/>
              </a:rPr>
              <a:t>the neglect of correlation between the motions of electrons of antiparallel spin.</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sp>
        <p:nvSpPr>
          <p:cNvPr id="9" name="!!Logo bg">
            <a:hlinkClick r:id="rId2" action="ppaction://hlinksldjump" tooltip="Go to Course Title"/>
            <a:extLst>
              <a:ext uri="{FF2B5EF4-FFF2-40B4-BE49-F238E27FC236}">
                <a16:creationId xmlns:a16="http://schemas.microsoft.com/office/drawing/2014/main" id="{28DB2000-D188-2A99-DAA0-D40068636C15}"/>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KNUST Logo" descr="KNUST_logo Vector.png">
            <a:hlinkClick r:id="rId2" action="ppaction://hlinksldjump" tooltip="Go to Course Title"/>
            <a:extLst>
              <a:ext uri="{FF2B5EF4-FFF2-40B4-BE49-F238E27FC236}">
                <a16:creationId xmlns:a16="http://schemas.microsoft.com/office/drawing/2014/main" id="{CCD7DB42-1707-3A49-D81A-A4E248B09F4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1" name="Slide Number Placeholder 10">
            <a:extLst>
              <a:ext uri="{FF2B5EF4-FFF2-40B4-BE49-F238E27FC236}">
                <a16:creationId xmlns:a16="http://schemas.microsoft.com/office/drawing/2014/main" id="{FAD4A285-5E64-7A96-E5FF-6F3D0D0026B4}"/>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6</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41560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13169-3F26-66F3-24E8-3F655746953C}"/>
              </a:ext>
            </a:extLst>
          </p:cNvPr>
          <p:cNvSpPr>
            <a:spLocks noGrp="1"/>
          </p:cNvSpPr>
          <p:nvPr>
            <p:ph type="title"/>
          </p:nvPr>
        </p:nvSpPr>
        <p:spPr>
          <a:xfrm>
            <a:off x="838200" y="18255"/>
            <a:ext cx="10515600" cy="607724"/>
          </a:xfrm>
        </p:spPr>
        <p:txBody>
          <a:bodyPr>
            <a:normAutofit fontScale="90000"/>
          </a:bodyPr>
          <a:lstStyle/>
          <a:p>
            <a:endParaRPr lang="en-GH" dirty="0"/>
          </a:p>
        </p:txBody>
      </p:sp>
      <p:sp>
        <p:nvSpPr>
          <p:cNvPr id="3" name="Content Placeholder 2">
            <a:extLst>
              <a:ext uri="{FF2B5EF4-FFF2-40B4-BE49-F238E27FC236}">
                <a16:creationId xmlns:a16="http://schemas.microsoft.com/office/drawing/2014/main" id="{F7A3A0E5-063C-2495-B097-4C186080E448}"/>
              </a:ext>
            </a:extLst>
          </p:cNvPr>
          <p:cNvSpPr>
            <a:spLocks noGrp="1"/>
          </p:cNvSpPr>
          <p:nvPr>
            <p:ph idx="1"/>
          </p:nvPr>
        </p:nvSpPr>
        <p:spPr>
          <a:xfrm>
            <a:off x="446681" y="798384"/>
            <a:ext cx="11901948" cy="5855111"/>
          </a:xfrm>
        </p:spPr>
        <p:txBody>
          <a:bodyPr>
            <a:noAutofit/>
          </a:bodyPr>
          <a:lstStyle/>
          <a:p>
            <a:pPr marL="0" indent="0">
              <a:buNone/>
            </a:pPr>
            <a:r>
              <a:rPr lang="en-US" sz="2200" dirty="0">
                <a:latin typeface="Times New Roman" panose="02020603050405020304" pitchFamily="18" charset="0"/>
                <a:cs typeface="Times New Roman" panose="02020603050405020304" pitchFamily="18" charset="0"/>
              </a:rPr>
              <a:t>Hartree-Fock method makes five major simplifications: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Born-Oppenheimer approximation </a:t>
            </a:r>
            <a:r>
              <a:rPr lang="en-US" sz="2200" dirty="0">
                <a:latin typeface="Times New Roman" panose="02020603050405020304" pitchFamily="18" charset="0"/>
                <a:cs typeface="Times New Roman" panose="02020603050405020304" pitchFamily="18" charset="0"/>
              </a:rPr>
              <a:t>is inherently assumed. The full molecular wave function is actually a function of the coordinates of each of the nuclei, in addition to those of the electrons. </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Typically, </a:t>
            </a:r>
            <a:r>
              <a:rPr lang="en-US" sz="2200" b="1" dirty="0">
                <a:latin typeface="Times New Roman" panose="02020603050405020304" pitchFamily="18" charset="0"/>
                <a:cs typeface="Times New Roman" panose="02020603050405020304" pitchFamily="18" charset="0"/>
              </a:rPr>
              <a:t>relativistic effects </a:t>
            </a:r>
            <a:r>
              <a:rPr lang="en-US" sz="2200" dirty="0">
                <a:latin typeface="Times New Roman" panose="02020603050405020304" pitchFamily="18" charset="0"/>
                <a:cs typeface="Times New Roman" panose="02020603050405020304" pitchFamily="18" charset="0"/>
              </a:rPr>
              <a:t>are completely neglected. The momentum operator is assumed to be completely non-relativistic. </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mean field approximation (</a:t>
            </a:r>
            <a:r>
              <a:rPr lang="en-US" sz="2200" b="1" dirty="0" err="1">
                <a:latin typeface="Times New Roman" panose="02020603050405020304" pitchFamily="18" charset="0"/>
                <a:cs typeface="Times New Roman" panose="02020603050405020304" pitchFamily="18" charset="0"/>
              </a:rPr>
              <a:t>ie</a:t>
            </a:r>
            <a:r>
              <a:rPr lang="en-US" sz="2200" b="1" dirty="0">
                <a:latin typeface="Times New Roman" panose="02020603050405020304" pitchFamily="18" charset="0"/>
                <a:cs typeface="Times New Roman" panose="02020603050405020304" pitchFamily="18" charset="0"/>
              </a:rPr>
              <a:t> HF approximation</a:t>
            </a:r>
            <a:r>
              <a:rPr lang="en-US" sz="2200" dirty="0">
                <a:latin typeface="Times New Roman" panose="02020603050405020304" pitchFamily="18" charset="0"/>
                <a:cs typeface="Times New Roman" panose="02020603050405020304" pitchFamily="18" charset="0"/>
              </a:rPr>
              <a:t>) is implied. Effects arising from deviations from this assumption, known as electron correlation, are completely neglected. </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 variational solution is assumed to be a </a:t>
            </a:r>
            <a:r>
              <a:rPr lang="en-US" sz="2200" b="1" dirty="0">
                <a:latin typeface="Times New Roman" panose="02020603050405020304" pitchFamily="18" charset="0"/>
                <a:cs typeface="Times New Roman" panose="02020603050405020304" pitchFamily="18" charset="0"/>
              </a:rPr>
              <a:t>linear combination of a finite number of basis functions</a:t>
            </a:r>
            <a:r>
              <a:rPr lang="en-US" sz="2200" dirty="0">
                <a:latin typeface="Times New Roman" panose="02020603050405020304" pitchFamily="18" charset="0"/>
                <a:cs typeface="Times New Roman" panose="02020603050405020304" pitchFamily="18" charset="0"/>
              </a:rPr>
              <a:t>, which are usually (but not always) chosen to be orthogonal. The finite basis of a finite set (a basis set) of prescribed functions known as basis functions, φ.</a:t>
            </a:r>
          </a:p>
          <a:p>
            <a:pPr>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Each energy eigen function is assumed to be describable by a </a:t>
            </a:r>
            <a:r>
              <a:rPr lang="en-US" sz="2200" b="1" dirty="0">
                <a:latin typeface="Times New Roman" panose="02020603050405020304" pitchFamily="18" charset="0"/>
                <a:cs typeface="Times New Roman" panose="02020603050405020304" pitchFamily="18" charset="0"/>
              </a:rPr>
              <a:t>single Slater determinant</a:t>
            </a:r>
            <a:r>
              <a:rPr lang="en-US" sz="2200" dirty="0">
                <a:latin typeface="Times New Roman" panose="02020603050405020304" pitchFamily="18" charset="0"/>
                <a:cs typeface="Times New Roman" panose="02020603050405020304" pitchFamily="18" charset="0"/>
              </a:rPr>
              <a:t>, an </a:t>
            </a:r>
            <a:r>
              <a:rPr lang="en-US" sz="2200" dirty="0" err="1">
                <a:latin typeface="Times New Roman" panose="02020603050405020304" pitchFamily="18" charset="0"/>
                <a:cs typeface="Times New Roman" panose="02020603050405020304" pitchFamily="18" charset="0"/>
              </a:rPr>
              <a:t>antisymmetrized</a:t>
            </a:r>
            <a:r>
              <a:rPr lang="en-US" sz="2200" dirty="0">
                <a:latin typeface="Times New Roman" panose="02020603050405020304" pitchFamily="18" charset="0"/>
                <a:cs typeface="Times New Roman" panose="02020603050405020304" pitchFamily="18" charset="0"/>
              </a:rPr>
              <a:t> product of one-electron wave functions (i.e., orbitals)</a:t>
            </a:r>
            <a:endParaRPr lang="en-GH" sz="2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Menu bg">
            <a:extLst>
              <a:ext uri="{FF2B5EF4-FFF2-40B4-BE49-F238E27FC236}">
                <a16:creationId xmlns:a16="http://schemas.microsoft.com/office/drawing/2014/main" id="{1CC50B69-7372-A047-4C3B-7BFE0FBFBB21}"/>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uLnTx/>
                <a:uFillTx/>
                <a:latin typeface="Tahoma" panose="020B0604030504040204" pitchFamily="34" charset="0"/>
                <a:ea typeface="Tahoma" panose="020B0604030504040204" pitchFamily="34" charset="0"/>
                <a:cs typeface="Tahoma" panose="020B0604030504040204" pitchFamily="34" charset="0"/>
              </a:rPr>
              <a:t>Hartree</a:t>
            </a: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a:t>
            </a:r>
            <a:r>
              <a:rPr kumimoji="0" lang="en-US" sz="4000" b="1" i="0" u="none" strike="noStrike" kern="1200" cap="none" spc="0" normalizeH="0" baseline="0" noProof="0" dirty="0">
                <a:ln>
                  <a:noFill/>
                </a:ln>
                <a:solidFill>
                  <a:schemeClr val="bg1"/>
                </a:solidFill>
                <a:effectLst/>
                <a:uLnTx/>
                <a:uFillTx/>
                <a:latin typeface="Tahoma" panose="020B0604030504040204" pitchFamily="34" charset="0"/>
                <a:ea typeface="Tahoma" panose="020B0604030504040204" pitchFamily="34" charset="0"/>
                <a:cs typeface="Tahoma" panose="020B0604030504040204" pitchFamily="34" charset="0"/>
              </a:rPr>
              <a:t>Fock Method –Cont’d</a:t>
            </a:r>
          </a:p>
        </p:txBody>
      </p:sp>
      <p:sp>
        <p:nvSpPr>
          <p:cNvPr id="5" name="!!Logo bg">
            <a:hlinkClick r:id="rId2" action="ppaction://hlinksldjump" tooltip="Go to Course Title"/>
            <a:extLst>
              <a:ext uri="{FF2B5EF4-FFF2-40B4-BE49-F238E27FC236}">
                <a16:creationId xmlns:a16="http://schemas.microsoft.com/office/drawing/2014/main" id="{B7AA5EEE-46A4-47F7-7F34-1C12B30021AC}"/>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6" name="!!KNUST Logo" descr="KNUST_logo Vector.png">
            <a:hlinkClick r:id="rId2" action="ppaction://hlinksldjump" tooltip="Go to Course Title"/>
            <a:extLst>
              <a:ext uri="{FF2B5EF4-FFF2-40B4-BE49-F238E27FC236}">
                <a16:creationId xmlns:a16="http://schemas.microsoft.com/office/drawing/2014/main" id="{C2CC8CC0-BACD-2893-1BE7-91A7070FB83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7" name="Slide Number Placeholder 6">
            <a:extLst>
              <a:ext uri="{FF2B5EF4-FFF2-40B4-BE49-F238E27FC236}">
                <a16:creationId xmlns:a16="http://schemas.microsoft.com/office/drawing/2014/main" id="{87B91400-2B8B-9ED0-67A2-922E0B1F9BD9}"/>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7</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20124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enu bg">
            <a:extLst>
              <a:ext uri="{FF2B5EF4-FFF2-40B4-BE49-F238E27FC236}">
                <a16:creationId xmlns:a16="http://schemas.microsoft.com/office/drawing/2014/main" id="{9627A8DF-75D0-13E5-1544-F9C5235B7CBB}"/>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D3636A4-FACB-08BE-E0CA-7EAF78003374}"/>
              </a:ext>
            </a:extLst>
          </p:cNvPr>
          <p:cNvSpPr>
            <a:spLocks noGrp="1"/>
          </p:cNvSpPr>
          <p:nvPr>
            <p:ph type="title"/>
          </p:nvPr>
        </p:nvSpPr>
        <p:spPr>
          <a:xfrm>
            <a:off x="838200" y="18256"/>
            <a:ext cx="10515600" cy="607723"/>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Post Hartree-</a:t>
            </a:r>
            <a:r>
              <a:rPr lang="en-US" b="1" dirty="0" err="1">
                <a:solidFill>
                  <a:schemeClr val="bg1"/>
                </a:solidFill>
                <a:latin typeface="Tahoma" panose="020B0604030504040204" pitchFamily="34" charset="0"/>
                <a:ea typeface="Tahoma" panose="020B0604030504040204" pitchFamily="34" charset="0"/>
                <a:cs typeface="Tahoma" panose="020B0604030504040204" pitchFamily="34" charset="0"/>
              </a:rPr>
              <a:t>Fck</a:t>
            </a: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 Method</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F622B63B-01B9-2315-12B9-74D8A375750D}"/>
              </a:ext>
            </a:extLst>
          </p:cNvPr>
          <p:cNvSpPr>
            <a:spLocks noGrp="1"/>
          </p:cNvSpPr>
          <p:nvPr>
            <p:ph idx="1"/>
          </p:nvPr>
        </p:nvSpPr>
        <p:spPr>
          <a:xfrm>
            <a:off x="117311" y="413657"/>
            <a:ext cx="11872451" cy="6129932"/>
          </a:xfrm>
        </p:spPr>
        <p:txBody>
          <a:bodyPr>
            <a:noAutofit/>
          </a:bodyPr>
          <a:lstStyle/>
          <a:p>
            <a:pPr lvl="0">
              <a:buFont typeface="Wingdings" panose="05000000000000000000" pitchFamily="2" charset="2"/>
              <a:buChar char="q"/>
            </a:pPr>
            <a:endParaRPr lang="en-US" sz="2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Post </a:t>
            </a:r>
            <a:r>
              <a:rPr lang="en-US" sz="2200" b="1" dirty="0" err="1">
                <a:latin typeface="Times New Roman" panose="02020603050405020304" pitchFamily="18" charset="0"/>
                <a:cs typeface="Times New Roman" panose="02020603050405020304" pitchFamily="18" charset="0"/>
              </a:rPr>
              <a:t>Hatree</a:t>
            </a:r>
            <a:r>
              <a:rPr lang="en-US" sz="2200" b="1" dirty="0">
                <a:latin typeface="Times New Roman" panose="02020603050405020304" pitchFamily="18" charset="0"/>
                <a:cs typeface="Times New Roman" panose="02020603050405020304" pitchFamily="18" charset="0"/>
              </a:rPr>
              <a:t>-Fock:</a:t>
            </a:r>
            <a:r>
              <a:rPr lang="en-US" sz="2200" dirty="0">
                <a:latin typeface="Times New Roman" panose="02020603050405020304" pitchFamily="18" charset="0"/>
                <a:cs typeface="Times New Roman" panose="02020603050405020304" pitchFamily="18" charset="0"/>
              </a:rPr>
              <a:t> a group of quantum chemical tools used to improve the accuracy of molecular energy calculations by adding electron correlation.</a:t>
            </a:r>
          </a:p>
          <a:p>
            <a:pPr>
              <a:buFont typeface="Wingdings" panose="05000000000000000000" pitchFamily="2" charset="2"/>
              <a:buChar char="q"/>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0" lvl="0" indent="0">
              <a:buNone/>
            </a:pPr>
            <a:r>
              <a:rPr lang="en-US" sz="2200" b="1" dirty="0">
                <a:latin typeface="Times New Roman" panose="02020603050405020304" pitchFamily="18" charset="0"/>
                <a:cs typeface="Times New Roman" panose="02020603050405020304" pitchFamily="18" charset="0"/>
              </a:rPr>
              <a:t>Methods of Post HF;</a:t>
            </a:r>
          </a:p>
          <a:p>
            <a:pPr lvl="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 Configuration Interaction (CI):</a:t>
            </a:r>
            <a:r>
              <a:rPr lang="en-US" sz="2200" dirty="0">
                <a:latin typeface="Times New Roman" panose="02020603050405020304" pitchFamily="18" charset="0"/>
                <a:cs typeface="Times New Roman" panose="02020603050405020304" pitchFamily="18" charset="0"/>
              </a:rPr>
              <a:t> Mixes the ground state with excited state determinants using linear combinations.</a:t>
            </a:r>
          </a:p>
          <a:p>
            <a:pPr lvl="0"/>
            <a:endParaRPr lang="en-US" sz="2200"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 Møller–</a:t>
            </a:r>
            <a:r>
              <a:rPr lang="en-US" sz="2200" b="1" dirty="0" err="1">
                <a:latin typeface="Times New Roman" panose="02020603050405020304" pitchFamily="18" charset="0"/>
                <a:cs typeface="Times New Roman" panose="02020603050405020304" pitchFamily="18" charset="0"/>
              </a:rPr>
              <a:t>Plesset</a:t>
            </a:r>
            <a:r>
              <a:rPr lang="en-US" sz="2200" b="1" dirty="0">
                <a:latin typeface="Times New Roman" panose="02020603050405020304" pitchFamily="18" charset="0"/>
                <a:cs typeface="Times New Roman" panose="02020603050405020304" pitchFamily="18" charset="0"/>
              </a:rPr>
              <a:t> Perturbation Theory (MP2, MP4):</a:t>
            </a:r>
            <a:r>
              <a:rPr lang="en-US" sz="2200" dirty="0">
                <a:latin typeface="Times New Roman" panose="02020603050405020304" pitchFamily="18" charset="0"/>
                <a:cs typeface="Times New Roman" panose="02020603050405020304" pitchFamily="18" charset="0"/>
              </a:rPr>
              <a:t> Adds correlation energy corrections using Rayleigh-Schrödinger perturbation theory. </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the Hartree-Fock Hamiltonian is chosen as the zeroth-order Hamiltonian the method is called Møller-</a:t>
            </a:r>
            <a:r>
              <a:rPr lang="en-US" sz="2200" dirty="0" err="1">
                <a:latin typeface="Times New Roman" panose="02020603050405020304" pitchFamily="18" charset="0"/>
                <a:cs typeface="Times New Roman" panose="02020603050405020304" pitchFamily="18" charset="0"/>
              </a:rPr>
              <a:t>Plesset</a:t>
            </a:r>
            <a:r>
              <a:rPr lang="en-US" sz="2200" dirty="0">
                <a:latin typeface="Times New Roman" panose="02020603050405020304" pitchFamily="18" charset="0"/>
                <a:cs typeface="Times New Roman" panose="02020603050405020304" pitchFamily="18" charset="0"/>
              </a:rPr>
              <a:t> Perturbation theory. </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exact energy is then expressed as an infinite sum of contributions of increasing complexity.</a:t>
            </a:r>
          </a:p>
          <a:p>
            <a:pPr lvl="1">
              <a:buFont typeface="Wingdings" panose="05000000000000000000" pitchFamily="2" charset="2"/>
              <a:buChar char="Ø"/>
            </a:pPr>
            <a:endParaRPr lang="en-US" sz="2200" b="1" dirty="0">
              <a:latin typeface="Times New Roman" panose="02020603050405020304" pitchFamily="18" charset="0"/>
              <a:cs typeface="Times New Roman" panose="02020603050405020304" pitchFamily="18" charset="0"/>
            </a:endParaRPr>
          </a:p>
          <a:p>
            <a:pPr lvl="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 Coupled Cluster (CCSD, CCSD(T)):</a:t>
            </a:r>
            <a:r>
              <a:rPr lang="en-US" sz="2200" dirty="0">
                <a:latin typeface="Times New Roman" panose="02020603050405020304" pitchFamily="18" charset="0"/>
                <a:cs typeface="Times New Roman" panose="02020603050405020304" pitchFamily="18" charset="0"/>
              </a:rPr>
              <a:t> Uses exponential cluster operators(infinite order correction) to handle excitations and maintain size-extensivity.</a:t>
            </a:r>
          </a:p>
          <a:p>
            <a:endParaRPr lang="en-US" sz="2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Logo bg">
            <a:hlinkClick r:id="rId2" action="ppaction://hlinksldjump" tooltip="Go to Course Title"/>
            <a:extLst>
              <a:ext uri="{FF2B5EF4-FFF2-40B4-BE49-F238E27FC236}">
                <a16:creationId xmlns:a16="http://schemas.microsoft.com/office/drawing/2014/main" id="{D6A34279-D081-6C50-81FC-A60ECDD8D82E}"/>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2" name="!!KNUST Logo" descr="KNUST_logo Vector.png">
            <a:hlinkClick r:id="rId2" action="ppaction://hlinksldjump" tooltip="Go to Course Title"/>
            <a:extLst>
              <a:ext uri="{FF2B5EF4-FFF2-40B4-BE49-F238E27FC236}">
                <a16:creationId xmlns:a16="http://schemas.microsoft.com/office/drawing/2014/main" id="{81059ABF-C7C1-ACD4-2588-9EA498C2A3B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3" name="Slide Number Placeholder 12">
            <a:extLst>
              <a:ext uri="{FF2B5EF4-FFF2-40B4-BE49-F238E27FC236}">
                <a16:creationId xmlns:a16="http://schemas.microsoft.com/office/drawing/2014/main" id="{995AA17C-1099-70CB-BEEC-A99BA925F0B1}"/>
              </a:ext>
            </a:extLst>
          </p:cNvPr>
          <p:cNvSpPr>
            <a:spLocks noGrp="1"/>
          </p:cNvSpPr>
          <p:nvPr>
            <p:ph type="sldNum" sz="quarter" idx="12"/>
          </p:nvPr>
        </p:nvSpPr>
        <p:spPr>
          <a:xfrm>
            <a:off x="8846574" y="6486330"/>
            <a:ext cx="2743200" cy="365125"/>
          </a:xfrm>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8</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78788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nu bg">
            <a:extLst>
              <a:ext uri="{FF2B5EF4-FFF2-40B4-BE49-F238E27FC236}">
                <a16:creationId xmlns:a16="http://schemas.microsoft.com/office/drawing/2014/main" id="{3B6CDD19-A3CD-5AC7-C551-8C2EC5700308}"/>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F1644317-AFA8-61DD-B3CD-1F7ECC5F5ED9}"/>
              </a:ext>
            </a:extLst>
          </p:cNvPr>
          <p:cNvSpPr txBox="1"/>
          <p:nvPr/>
        </p:nvSpPr>
        <p:spPr>
          <a:xfrm>
            <a:off x="1858297" y="0"/>
            <a:ext cx="9070258" cy="707886"/>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Molecular Mechanics(MM)</a:t>
            </a:r>
            <a:endParaRPr lang="en-GH" sz="4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7" name="!!Logo bg">
            <a:hlinkClick r:id="rId2" action="ppaction://hlinksldjump" tooltip="Go to Course Title"/>
            <a:extLst>
              <a:ext uri="{FF2B5EF4-FFF2-40B4-BE49-F238E27FC236}">
                <a16:creationId xmlns:a16="http://schemas.microsoft.com/office/drawing/2014/main" id="{AA4301B3-3CCC-0FFD-46B7-B3D3BD82B541}"/>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KNUST Logo" descr="KNUST_logo Vector.png">
            <a:hlinkClick r:id="rId2" action="ppaction://hlinksldjump" tooltip="Go to Course Title"/>
            <a:extLst>
              <a:ext uri="{FF2B5EF4-FFF2-40B4-BE49-F238E27FC236}">
                <a16:creationId xmlns:a16="http://schemas.microsoft.com/office/drawing/2014/main" id="{1907B49A-776F-9D19-D8A5-28A67BBD060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9" name="Slide Number Placeholder 8">
            <a:extLst>
              <a:ext uri="{FF2B5EF4-FFF2-40B4-BE49-F238E27FC236}">
                <a16:creationId xmlns:a16="http://schemas.microsoft.com/office/drawing/2014/main" id="{11DF9FF7-09FC-F045-2164-9BCCA50F64AB}"/>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9</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0" name="Content Placeholder 15">
            <a:extLst>
              <a:ext uri="{FF2B5EF4-FFF2-40B4-BE49-F238E27FC236}">
                <a16:creationId xmlns:a16="http://schemas.microsoft.com/office/drawing/2014/main" id="{4EAB34E9-2144-6335-ED7A-341576E62D6F}"/>
              </a:ext>
            </a:extLst>
          </p:cNvPr>
          <p:cNvSpPr txBox="1">
            <a:spLocks/>
          </p:cNvSpPr>
          <p:nvPr/>
        </p:nvSpPr>
        <p:spPr>
          <a:xfrm>
            <a:off x="90788" y="858190"/>
            <a:ext cx="7212407" cy="54981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MM describes molecules in terms of “bonded atoms”, which have been distorted from some idealized geometry due to non bonded van der Waals and Coulombic </a:t>
            </a:r>
            <a:r>
              <a:rPr lang="en-US" sz="2200" dirty="0" err="1">
                <a:latin typeface="Times New Roman" panose="02020603050405020304" pitchFamily="18" charset="0"/>
                <a:cs typeface="Times New Roman" panose="02020603050405020304" pitchFamily="18" charset="0"/>
              </a:rPr>
              <a:t>interactionsecular</a:t>
            </a:r>
            <a:r>
              <a:rPr lang="en-US" sz="2200" dirty="0">
                <a:latin typeface="Times New Roman" panose="02020603050405020304" pitchFamily="18" charset="0"/>
                <a:cs typeface="Times New Roman" panose="02020603050405020304" pitchFamily="18" charset="0"/>
              </a:rPr>
              <a:t> Dynamics</a:t>
            </a: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buFont typeface="Wingdings" panose="05000000000000000000" pitchFamily="2" charset="2"/>
              <a:buChar char="q"/>
            </a:pPr>
            <a:r>
              <a:rPr lang="en-US" sz="2000" dirty="0">
                <a:latin typeface="Times New Roman" panose="02020603050405020304" pitchFamily="18" charset="0"/>
                <a:ea typeface="Tahoma" panose="020B0604030504040204" pitchFamily="34" charset="0"/>
                <a:cs typeface="Times New Roman" panose="02020603050405020304" pitchFamily="18" charset="0"/>
              </a:rPr>
              <a:t>Molecular Mechanics methods are based on the following Principles</a:t>
            </a:r>
          </a:p>
          <a:p>
            <a:pPr lvl="1">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Interactions are based as spring and models</a:t>
            </a:r>
          </a:p>
          <a:p>
            <a:pPr lvl="1">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Atoms-like particles have net charge</a:t>
            </a:r>
          </a:p>
          <a:p>
            <a:pPr lvl="1">
              <a:buFont typeface="Wingdings" panose="05000000000000000000" pitchFamily="2" charset="2"/>
              <a:buChar char="Ø"/>
            </a:pPr>
            <a:r>
              <a:rPr lang="en-US" sz="2000" dirty="0">
                <a:latin typeface="Times New Roman" panose="02020603050405020304" pitchFamily="18" charset="0"/>
                <a:ea typeface="Tahoma" panose="020B0604030504040204" pitchFamily="34" charset="0"/>
                <a:cs typeface="Times New Roman" panose="02020603050405020304" pitchFamily="18" charset="0"/>
              </a:rPr>
              <a:t>Nuclei and electrons are lumped in atom like particles (BO APPROXIMATION)</a:t>
            </a:r>
          </a:p>
          <a:p>
            <a:pPr marL="0" indent="0">
              <a:buNone/>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3" name="Picture 12" descr="A Molecular Mechanics Energy Partitioning Software for Biomolecular Systems">
            <a:extLst>
              <a:ext uri="{FF2B5EF4-FFF2-40B4-BE49-F238E27FC236}">
                <a16:creationId xmlns:a16="http://schemas.microsoft.com/office/drawing/2014/main" id="{91CB773E-F7EE-45E7-580E-81D632F7FB23}"/>
              </a:ext>
            </a:extLst>
          </p:cNvPr>
          <p:cNvPicPr>
            <a:picLocks noChangeAspect="1"/>
          </p:cNvPicPr>
          <p:nvPr/>
        </p:nvPicPr>
        <p:blipFill>
          <a:blip r:embed="rId4"/>
          <a:stretch>
            <a:fillRect/>
          </a:stretch>
        </p:blipFill>
        <p:spPr>
          <a:xfrm>
            <a:off x="97418" y="4949345"/>
            <a:ext cx="6967965" cy="1865458"/>
          </a:xfrm>
          <a:prstGeom prst="rect">
            <a:avLst/>
          </a:prstGeom>
        </p:spPr>
      </p:pic>
      <p:pic>
        <p:nvPicPr>
          <p:cNvPr id="15" name="Picture 14">
            <a:extLst>
              <a:ext uri="{FF2B5EF4-FFF2-40B4-BE49-F238E27FC236}">
                <a16:creationId xmlns:a16="http://schemas.microsoft.com/office/drawing/2014/main" id="{17E2784D-64E7-0705-3C79-D1A864B65F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9541" y="1809115"/>
            <a:ext cx="5042459" cy="3873194"/>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C068AF1-873F-AB5F-7E98-B7080BEF672E}"/>
                  </a:ext>
                </a:extLst>
              </p:cNvPr>
              <p:cNvSpPr txBox="1"/>
              <p:nvPr/>
            </p:nvSpPr>
            <p:spPr>
              <a:xfrm>
                <a:off x="-192198" y="2255530"/>
                <a:ext cx="6585624" cy="548355"/>
              </a:xfrm>
              <a:prstGeom prst="rect">
                <a:avLst/>
              </a:prstGeom>
              <a:noFill/>
            </p:spPr>
            <p:txBody>
              <a:bodyPr wrap="square">
                <a:spAutoFit/>
              </a:bodyPr>
              <a:lstStyle/>
              <a:p>
                <a:pPr marL="0" marR="0" rtl="0">
                  <a:spcBef>
                    <a:spcPts val="1200"/>
                  </a:spcBef>
                  <a:buNone/>
                </a:pPr>
                <a14:m>
                  <m:oMathPara xmlns:m="http://schemas.openxmlformats.org/officeDocument/2006/math">
                    <m:oMath>
                      <m:r>
                        <m:rPr>
                          <m:nor/>
                        </m:rPr>
                        <a:rPr lang="en-US" sz="2800" b="0" i="0" smtClean="0"/>
                        <m:t> </m:t>
                      </m:r>
                      <m:r>
                        <a:rPr lang="en-US" sz="2800" b="1" i="1">
                          <a:latin typeface="Cambria Math" panose="02040503050406030204" pitchFamily="18" charset="0"/>
                        </a:rPr>
                        <m:t>𝑬</m:t>
                      </m:r>
                      <m:r>
                        <a:rPr lang="en-US" sz="2800" b="1" i="0">
                          <a:latin typeface="Cambria Math" panose="02040503050406030204" pitchFamily="18" charset="0"/>
                        </a:rPr>
                        <m:t>=</m:t>
                      </m:r>
                      <m:sSub>
                        <m:sSubPr>
                          <m:ctrlPr>
                            <a:rPr lang="en-US" sz="2800" b="1" i="1">
                              <a:latin typeface="Cambria Math" panose="02040503050406030204" pitchFamily="18" charset="0"/>
                            </a:rPr>
                          </m:ctrlPr>
                        </m:sSubPr>
                        <m:e>
                          <m:r>
                            <a:rPr lang="en-US" sz="2800" b="1" i="1">
                              <a:latin typeface="Cambria Math" panose="02040503050406030204" pitchFamily="18" charset="0"/>
                            </a:rPr>
                            <m:t>𝑬</m:t>
                          </m:r>
                        </m:e>
                        <m:sub>
                          <m:r>
                            <m:rPr>
                              <m:nor/>
                            </m:rPr>
                            <a:rPr lang="en-US" sz="2800" b="1" i="0"/>
                            <m:t>covalent</m:t>
                          </m:r>
                        </m:sub>
                      </m:sSub>
                      <m:r>
                        <a:rPr lang="en-US" sz="2800" b="1" i="0">
                          <a:latin typeface="Cambria Math" panose="02040503050406030204" pitchFamily="18" charset="0"/>
                        </a:rPr>
                        <m:t>+</m:t>
                      </m:r>
                      <m:sSub>
                        <m:sSubPr>
                          <m:ctrlPr>
                            <a:rPr lang="en-US" sz="2800" b="1" i="1">
                              <a:latin typeface="Cambria Math" panose="02040503050406030204" pitchFamily="18" charset="0"/>
                            </a:rPr>
                          </m:ctrlPr>
                        </m:sSubPr>
                        <m:e>
                          <m:r>
                            <a:rPr lang="en-US" sz="2800" b="1" i="1">
                              <a:latin typeface="Cambria Math" panose="02040503050406030204" pitchFamily="18" charset="0"/>
                            </a:rPr>
                            <m:t>𝑬</m:t>
                          </m:r>
                        </m:e>
                        <m:sub>
                          <m:r>
                            <m:rPr>
                              <m:nor/>
                            </m:rPr>
                            <a:rPr lang="en-US" sz="2800" b="1" i="0"/>
                            <m:t>noncovalent</m:t>
                          </m:r>
                        </m:sub>
                      </m:sSub>
                      <m:r>
                        <a:rPr lang="en-US" sz="2800" b="0" i="0">
                          <a:latin typeface="Cambria Math" panose="02040503050406030204" pitchFamily="18" charset="0"/>
                        </a:rPr>
                        <m:t> </m:t>
                      </m:r>
                    </m:oMath>
                  </m:oMathPara>
                </a14:m>
                <a:endParaRPr lang="en-US" sz="2800" dirty="0">
                  <a:solidFill>
                    <a:srgbClr val="202122"/>
                  </a:solidFill>
                  <a:effectLst/>
                  <a:latin typeface="Arial" panose="020B0604020202020204" pitchFamily="34" charset="0"/>
                </a:endParaRPr>
              </a:p>
            </p:txBody>
          </p:sp>
        </mc:Choice>
        <mc:Fallback xmlns="">
          <p:sp>
            <p:nvSpPr>
              <p:cNvPr id="3" name="TextBox 2">
                <a:extLst>
                  <a:ext uri="{FF2B5EF4-FFF2-40B4-BE49-F238E27FC236}">
                    <a16:creationId xmlns:a16="http://schemas.microsoft.com/office/drawing/2014/main" id="{9C068AF1-873F-AB5F-7E98-B7080BEF672E}"/>
                  </a:ext>
                </a:extLst>
              </p:cNvPr>
              <p:cNvSpPr txBox="1">
                <a:spLocks noRot="1" noChangeAspect="1" noMove="1" noResize="1" noEditPoints="1" noAdjustHandles="1" noChangeArrowheads="1" noChangeShapeType="1" noTextEdit="1"/>
              </p:cNvSpPr>
              <p:nvPr/>
            </p:nvSpPr>
            <p:spPr>
              <a:xfrm>
                <a:off x="-192198" y="2255530"/>
                <a:ext cx="6585624" cy="54835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86271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nu bg">
            <a:extLst>
              <a:ext uri="{FF2B5EF4-FFF2-40B4-BE49-F238E27FC236}">
                <a16:creationId xmlns:a16="http://schemas.microsoft.com/office/drawing/2014/main" id="{9148DE24-1B49-8F69-5C6D-FC2A12549467}"/>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E64DBA5D-2363-1662-31C1-5CA377D8B536}"/>
              </a:ext>
            </a:extLst>
          </p:cNvPr>
          <p:cNvSpPr>
            <a:spLocks noGrp="1"/>
          </p:cNvSpPr>
          <p:nvPr>
            <p:ph type="title"/>
          </p:nvPr>
        </p:nvSpPr>
        <p:spPr>
          <a:xfrm>
            <a:off x="838200" y="40660"/>
            <a:ext cx="10515600" cy="640377"/>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Advantages</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7" name="!!Logo bg">
            <a:hlinkClick r:id="rId2" action="ppaction://hlinksldjump" tooltip="Go to Course Title"/>
            <a:extLst>
              <a:ext uri="{FF2B5EF4-FFF2-40B4-BE49-F238E27FC236}">
                <a16:creationId xmlns:a16="http://schemas.microsoft.com/office/drawing/2014/main" id="{5DC818DB-7947-582E-9A4F-C94F7A02870A}"/>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KNUST Logo" descr="KNUST_logo Vector.png">
            <a:hlinkClick r:id="rId2" action="ppaction://hlinksldjump" tooltip="Go to Course Title"/>
            <a:extLst>
              <a:ext uri="{FF2B5EF4-FFF2-40B4-BE49-F238E27FC236}">
                <a16:creationId xmlns:a16="http://schemas.microsoft.com/office/drawing/2014/main" id="{3BA60B70-BF30-07D1-C344-DA0FC9C7B5B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9" name="Slide Number Placeholder 8">
            <a:extLst>
              <a:ext uri="{FF2B5EF4-FFF2-40B4-BE49-F238E27FC236}">
                <a16:creationId xmlns:a16="http://schemas.microsoft.com/office/drawing/2014/main" id="{A6D23EDC-E586-B350-499C-0FAEC862328E}"/>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10</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2" name="Content Placeholder 11">
            <a:extLst>
              <a:ext uri="{FF2B5EF4-FFF2-40B4-BE49-F238E27FC236}">
                <a16:creationId xmlns:a16="http://schemas.microsoft.com/office/drawing/2014/main" id="{7FB006AD-0C08-B0A6-6C66-F3DC94AE829D}"/>
              </a:ext>
            </a:extLst>
          </p:cNvPr>
          <p:cNvSpPr>
            <a:spLocks noGrp="1"/>
          </p:cNvSpPr>
          <p:nvPr>
            <p:ph idx="1"/>
          </p:nvPr>
        </p:nvSpPr>
        <p:spPr>
          <a:xfrm>
            <a:off x="287095" y="906796"/>
            <a:ext cx="11989763" cy="5632116"/>
          </a:xfrm>
        </p:spPr>
        <p:txBody>
          <a:bodyPr>
            <a:normAutofit/>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They are sufficiently fast (extensive conformational searching on molecules containing upwards of 100-200 atoms)</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Empirical energy functions parameterized against experimental data</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MM computations are quite inexpensive (compared to ab initio methods), and they allow to be used to compute properties for very large systems containing many thousands of atoms such as: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Energy optimization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Calculation of binding constants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Simulating of protein folding kinetics</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Examination of active site coordinates</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Design of binding site</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4184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nu bg">
            <a:extLst>
              <a:ext uri="{FF2B5EF4-FFF2-40B4-BE49-F238E27FC236}">
                <a16:creationId xmlns:a16="http://schemas.microsoft.com/office/drawing/2014/main" id="{784C668E-D49A-2988-0CC9-040FD2DA4472}"/>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BD1F53D2-DDA9-B6DE-94F4-264BD684C3E8}"/>
              </a:ext>
            </a:extLst>
          </p:cNvPr>
          <p:cNvSpPr>
            <a:spLocks noGrp="1"/>
          </p:cNvSpPr>
          <p:nvPr>
            <p:ph type="title"/>
          </p:nvPr>
        </p:nvSpPr>
        <p:spPr>
          <a:xfrm>
            <a:off x="838200" y="18256"/>
            <a:ext cx="10515600" cy="607723"/>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Limitation</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87970B7B-3BDF-A24A-DC69-A629C83D4449}"/>
              </a:ext>
            </a:extLst>
          </p:cNvPr>
          <p:cNvSpPr>
            <a:spLocks noGrp="1"/>
          </p:cNvSpPr>
          <p:nvPr>
            <p:ph idx="1"/>
          </p:nvPr>
        </p:nvSpPr>
        <p:spPr>
          <a:xfrm>
            <a:off x="324465" y="811162"/>
            <a:ext cx="11628049" cy="5910313"/>
          </a:xfrm>
        </p:spPr>
        <p:txBody>
          <a:bodyPr>
            <a:normAutofit/>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MM calculations reveal nothing about bonding or, more generally, about electron distributions in molecules.(dominant electronic effect )</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Each force field achieves good results only for limited class of molecules related to those for which it was parameterized.</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Currently available force fields have not been parameterized to handle non-equilibrium forms, in particular, reaction transition states.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Logo bg">
            <a:hlinkClick r:id="rId2" action="ppaction://hlinksldjump" tooltip="Go to Course Title"/>
            <a:extLst>
              <a:ext uri="{FF2B5EF4-FFF2-40B4-BE49-F238E27FC236}">
                <a16:creationId xmlns:a16="http://schemas.microsoft.com/office/drawing/2014/main" id="{3DC66AB8-002B-C529-7A39-79DF3733C0BE}"/>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6" name="!!KNUST Logo" descr="KNUST_logo Vector.png">
            <a:hlinkClick r:id="rId2" action="ppaction://hlinksldjump" tooltip="Go to Course Title"/>
            <a:extLst>
              <a:ext uri="{FF2B5EF4-FFF2-40B4-BE49-F238E27FC236}">
                <a16:creationId xmlns:a16="http://schemas.microsoft.com/office/drawing/2014/main" id="{14BF76D0-827B-9598-C467-1D466398C5A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7" name="Slide Number Placeholder 6">
            <a:extLst>
              <a:ext uri="{FF2B5EF4-FFF2-40B4-BE49-F238E27FC236}">
                <a16:creationId xmlns:a16="http://schemas.microsoft.com/office/drawing/2014/main" id="{5FEFBDED-3E08-DB88-717F-D63FB5803A7D}"/>
              </a:ext>
            </a:extLst>
          </p:cNvPr>
          <p:cNvSpPr>
            <a:spLocks noGrp="1"/>
          </p:cNvSpPr>
          <p:nvPr>
            <p:ph type="sldNum" sz="quarter" idx="12"/>
          </p:nvPr>
        </p:nvSpPr>
        <p:spPr/>
        <p:txBody>
          <a:bodyPr/>
          <a:lstStyle/>
          <a:p>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7</a:t>
            </a:r>
            <a:endParaRPr lang="en-GH" sz="2000" dirty="0"/>
          </a:p>
        </p:txBody>
      </p:sp>
    </p:spTree>
    <p:extLst>
      <p:ext uri="{BB962C8B-B14F-4D97-AF65-F5344CB8AC3E}">
        <p14:creationId xmlns:p14="http://schemas.microsoft.com/office/powerpoint/2010/main" val="62206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nu bg">
            <a:extLst>
              <a:ext uri="{FF2B5EF4-FFF2-40B4-BE49-F238E27FC236}">
                <a16:creationId xmlns:a16="http://schemas.microsoft.com/office/drawing/2014/main" id="{9C73E7BE-B8E4-1D75-52DB-C572E608EA90}"/>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5C36E58C-CBBD-ECD3-1F0F-A423E39398F8}"/>
              </a:ext>
            </a:extLst>
          </p:cNvPr>
          <p:cNvSpPr txBox="1"/>
          <p:nvPr/>
        </p:nvSpPr>
        <p:spPr>
          <a:xfrm>
            <a:off x="2104867" y="-81906"/>
            <a:ext cx="8269219" cy="707886"/>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Potential Energy Surfaces</a:t>
            </a:r>
            <a:endParaRPr lang="en-GH" sz="4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6" name="!!Logo bg">
            <a:hlinkClick r:id="rId2" action="ppaction://hlinksldjump" tooltip="Go to Course Title"/>
            <a:extLst>
              <a:ext uri="{FF2B5EF4-FFF2-40B4-BE49-F238E27FC236}">
                <a16:creationId xmlns:a16="http://schemas.microsoft.com/office/drawing/2014/main" id="{454787E8-3994-39FA-E642-8826B74D9EF4}"/>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7" name="!!KNUST Logo" descr="KNUST_logo Vector.png">
            <a:hlinkClick r:id="rId2" action="ppaction://hlinksldjump" tooltip="Go to Course Title"/>
            <a:extLst>
              <a:ext uri="{FF2B5EF4-FFF2-40B4-BE49-F238E27FC236}">
                <a16:creationId xmlns:a16="http://schemas.microsoft.com/office/drawing/2014/main" id="{FFEF9C54-3266-BB91-939C-AA1E5E8FB2A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8" name="Slide Number Placeholder 7">
            <a:extLst>
              <a:ext uri="{FF2B5EF4-FFF2-40B4-BE49-F238E27FC236}">
                <a16:creationId xmlns:a16="http://schemas.microsoft.com/office/drawing/2014/main" id="{F0462B35-5F0B-7DAF-EF9C-EF71B72EE57A}"/>
              </a:ext>
            </a:extLst>
          </p:cNvPr>
          <p:cNvSpPr>
            <a:spLocks noGrp="1"/>
          </p:cNvSpPr>
          <p:nvPr>
            <p:ph type="sldNum" sz="quarter" idx="12"/>
          </p:nvPr>
        </p:nvSpPr>
        <p:spPr/>
        <p:txBody>
          <a:bodyPr/>
          <a:lstStyle/>
          <a:p>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8</a:t>
            </a:r>
            <a:endParaRPr lang="en-GH" sz="2000" dirty="0"/>
          </a:p>
        </p:txBody>
      </p:sp>
      <p:sp>
        <p:nvSpPr>
          <p:cNvPr id="9" name="Content Placeholder 2">
            <a:extLst>
              <a:ext uri="{FF2B5EF4-FFF2-40B4-BE49-F238E27FC236}">
                <a16:creationId xmlns:a16="http://schemas.microsoft.com/office/drawing/2014/main" id="{0B2FCDA2-34EA-6978-6665-47F5F4AA9BC0}"/>
              </a:ext>
            </a:extLst>
          </p:cNvPr>
          <p:cNvSpPr txBox="1">
            <a:spLocks/>
          </p:cNvSpPr>
          <p:nvPr/>
        </p:nvSpPr>
        <p:spPr>
          <a:xfrm>
            <a:off x="324465" y="811162"/>
            <a:ext cx="11628049" cy="59103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H" sz="2600" dirty="0">
              <a:latin typeface="Tahoma" panose="020B0604030504040204" pitchFamily="34" charset="0"/>
              <a:ea typeface="Tahoma" panose="020B0604030504040204" pitchFamily="34" charset="0"/>
              <a:cs typeface="Tahoma" panose="020B0604030504040204" pitchFamily="34" charset="0"/>
            </a:endParaRPr>
          </a:p>
        </p:txBody>
      </p:sp>
      <p:sp>
        <p:nvSpPr>
          <p:cNvPr id="13" name="Content Placeholder 2">
            <a:extLst>
              <a:ext uri="{FF2B5EF4-FFF2-40B4-BE49-F238E27FC236}">
                <a16:creationId xmlns:a16="http://schemas.microsoft.com/office/drawing/2014/main" id="{4EE405E7-E022-8E6D-3EC9-5A95E235267A}"/>
              </a:ext>
            </a:extLst>
          </p:cNvPr>
          <p:cNvSpPr txBox="1">
            <a:spLocks/>
          </p:cNvSpPr>
          <p:nvPr/>
        </p:nvSpPr>
        <p:spPr>
          <a:xfrm>
            <a:off x="287095" y="758125"/>
            <a:ext cx="11628049" cy="59103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Potential Energy Surfaces</a:t>
            </a:r>
            <a:r>
              <a:rPr lang="en-US" sz="2400" b="1">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en-US" sz="240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mathematical or graphical landscape that maps the total potential energy of a molecular system (usually a collection of atoms) based on the spatial positions or geometric coordinates of its nuclei.</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Analysis of molecular geometry and chemical reaction dynamics. </a:t>
            </a:r>
          </a:p>
          <a:p>
            <a:pPr marL="0" indent="0">
              <a:buNone/>
            </a:pPr>
            <a:endParaRPr lang="en-US" sz="2400" dirty="0"/>
          </a:p>
          <a:p>
            <a:pPr marL="0" indent="0">
              <a:buNone/>
            </a:pPr>
            <a:r>
              <a:rPr lang="en-US" sz="2400" dirty="0">
                <a:latin typeface="Times New Roman" panose="02020603050405020304" pitchFamily="18" charset="0"/>
                <a:cs typeface="Times New Roman" panose="02020603050405020304" pitchFamily="18" charset="0"/>
              </a:rPr>
              <a:t>WHY PES?</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Born-Oppenheimer Approximation</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Chemical Reactions</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Dimensionality: For a non-linear molecule</a:t>
            </a:r>
            <a:r>
              <a:rPr lang="en-US" dirty="0">
                <a:effectLst/>
                <a:latin typeface="Times New Roman" panose="02020603050405020304" pitchFamily="18" charset="0"/>
                <a:cs typeface="Times New Roman" panose="02020603050405020304" pitchFamily="18" charset="0"/>
              </a:rPr>
              <a:t>(3𝑁−6)</a:t>
            </a:r>
          </a:p>
        </p:txBody>
      </p:sp>
      <p:pic>
        <p:nvPicPr>
          <p:cNvPr id="10" name="Picture 9">
            <a:extLst>
              <a:ext uri="{FF2B5EF4-FFF2-40B4-BE49-F238E27FC236}">
                <a16:creationId xmlns:a16="http://schemas.microsoft.com/office/drawing/2014/main" id="{2E3BC043-8B4F-CD18-3DA5-9FD41BB72B5D}"/>
              </a:ext>
            </a:extLst>
          </p:cNvPr>
          <p:cNvPicPr>
            <a:picLocks noChangeAspect="1"/>
          </p:cNvPicPr>
          <p:nvPr/>
        </p:nvPicPr>
        <p:blipFill>
          <a:blip r:embed="rId4"/>
          <a:stretch>
            <a:fillRect/>
          </a:stretch>
        </p:blipFill>
        <p:spPr>
          <a:xfrm>
            <a:off x="5647008" y="2835714"/>
            <a:ext cx="9525" cy="9525"/>
          </a:xfrm>
          <a:prstGeom prst="rect">
            <a:avLst/>
          </a:prstGeom>
        </p:spPr>
      </p:pic>
      <p:pic>
        <p:nvPicPr>
          <p:cNvPr id="11" name="Picture 10">
            <a:extLst>
              <a:ext uri="{FF2B5EF4-FFF2-40B4-BE49-F238E27FC236}">
                <a16:creationId xmlns:a16="http://schemas.microsoft.com/office/drawing/2014/main" id="{69E09AF9-6CF5-6CD8-830D-4CB101FA9CE4}"/>
              </a:ext>
            </a:extLst>
          </p:cNvPr>
          <p:cNvPicPr>
            <a:picLocks noChangeAspect="1"/>
          </p:cNvPicPr>
          <p:nvPr/>
        </p:nvPicPr>
        <p:blipFill>
          <a:blip r:embed="rId4"/>
          <a:stretch>
            <a:fillRect/>
          </a:stretch>
        </p:blipFill>
        <p:spPr>
          <a:xfrm>
            <a:off x="5797008" y="2985714"/>
            <a:ext cx="9525" cy="9525"/>
          </a:xfrm>
          <a:prstGeom prst="rect">
            <a:avLst/>
          </a:prstGeom>
        </p:spPr>
      </p:pic>
      <p:pic>
        <p:nvPicPr>
          <p:cNvPr id="12" name="Picture 11">
            <a:extLst>
              <a:ext uri="{FF2B5EF4-FFF2-40B4-BE49-F238E27FC236}">
                <a16:creationId xmlns:a16="http://schemas.microsoft.com/office/drawing/2014/main" id="{2F4E916B-00BD-4B3A-58AA-7FBBE5625223}"/>
              </a:ext>
            </a:extLst>
          </p:cNvPr>
          <p:cNvPicPr>
            <a:picLocks noChangeAspect="1"/>
          </p:cNvPicPr>
          <p:nvPr/>
        </p:nvPicPr>
        <p:blipFill>
          <a:blip r:embed="rId4"/>
          <a:stretch>
            <a:fillRect/>
          </a:stretch>
        </p:blipFill>
        <p:spPr>
          <a:xfrm>
            <a:off x="5947008" y="3135714"/>
            <a:ext cx="9525" cy="9525"/>
          </a:xfrm>
          <a:prstGeom prst="rect">
            <a:avLst/>
          </a:prstGeom>
        </p:spPr>
      </p:pic>
      <p:pic>
        <p:nvPicPr>
          <p:cNvPr id="15" name="Picture 14">
            <a:extLst>
              <a:ext uri="{FF2B5EF4-FFF2-40B4-BE49-F238E27FC236}">
                <a16:creationId xmlns:a16="http://schemas.microsoft.com/office/drawing/2014/main" id="{DA3EC06D-0AD5-6EC3-C718-536F5CF2BCED}"/>
              </a:ext>
            </a:extLst>
          </p:cNvPr>
          <p:cNvPicPr>
            <a:picLocks noChangeAspect="1"/>
          </p:cNvPicPr>
          <p:nvPr/>
        </p:nvPicPr>
        <p:blipFill>
          <a:blip r:embed="rId4"/>
          <a:stretch>
            <a:fillRect/>
          </a:stretch>
        </p:blipFill>
        <p:spPr>
          <a:xfrm>
            <a:off x="6097008" y="3285714"/>
            <a:ext cx="9525" cy="9525"/>
          </a:xfrm>
          <a:prstGeom prst="rect">
            <a:avLst/>
          </a:prstGeom>
        </p:spPr>
      </p:pic>
      <p:pic>
        <p:nvPicPr>
          <p:cNvPr id="16" name="Picture 15">
            <a:extLst>
              <a:ext uri="{FF2B5EF4-FFF2-40B4-BE49-F238E27FC236}">
                <a16:creationId xmlns:a16="http://schemas.microsoft.com/office/drawing/2014/main" id="{1F4B4055-8096-1A9F-2727-3637DF803F29}"/>
              </a:ext>
            </a:extLst>
          </p:cNvPr>
          <p:cNvPicPr>
            <a:picLocks noChangeAspect="1"/>
          </p:cNvPicPr>
          <p:nvPr/>
        </p:nvPicPr>
        <p:blipFill>
          <a:blip r:embed="rId4"/>
          <a:stretch>
            <a:fillRect/>
          </a:stretch>
        </p:blipFill>
        <p:spPr>
          <a:xfrm>
            <a:off x="6247008" y="3435714"/>
            <a:ext cx="9525" cy="9525"/>
          </a:xfrm>
          <a:prstGeom prst="rect">
            <a:avLst/>
          </a:prstGeom>
        </p:spPr>
      </p:pic>
      <p:pic>
        <p:nvPicPr>
          <p:cNvPr id="18" name="Picture 17" descr="30.10: The Potential-Energy Surface Can Be Calculated Using Quantum  Mechanics - Chemistry LibreTexts">
            <a:extLst>
              <a:ext uri="{FF2B5EF4-FFF2-40B4-BE49-F238E27FC236}">
                <a16:creationId xmlns:a16="http://schemas.microsoft.com/office/drawing/2014/main" id="{1BE49DFD-B9D9-0F5F-F1BF-AC4A21627444}"/>
              </a:ext>
            </a:extLst>
          </p:cNvPr>
          <p:cNvPicPr>
            <a:picLocks noChangeAspect="1"/>
          </p:cNvPicPr>
          <p:nvPr/>
        </p:nvPicPr>
        <p:blipFill>
          <a:blip r:embed="rId5"/>
          <a:srcRect l="2466" t="7395" r="2888" b="6350"/>
          <a:stretch>
            <a:fillRect/>
          </a:stretch>
        </p:blipFill>
        <p:spPr>
          <a:xfrm>
            <a:off x="7237856" y="2613669"/>
            <a:ext cx="4791220" cy="3742681"/>
          </a:xfrm>
          <a:prstGeom prst="rect">
            <a:avLst/>
          </a:prstGeom>
        </p:spPr>
      </p:pic>
    </p:spTree>
    <p:extLst>
      <p:ext uri="{BB962C8B-B14F-4D97-AF65-F5344CB8AC3E}">
        <p14:creationId xmlns:p14="http://schemas.microsoft.com/office/powerpoint/2010/main" val="2074402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nu bg">
            <a:extLst>
              <a:ext uri="{FF2B5EF4-FFF2-40B4-BE49-F238E27FC236}">
                <a16:creationId xmlns:a16="http://schemas.microsoft.com/office/drawing/2014/main" id="{E97021BC-6AC6-F086-DD52-124FD95B11F1}"/>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6" name="TextBox 5">
            <a:extLst>
              <a:ext uri="{FF2B5EF4-FFF2-40B4-BE49-F238E27FC236}">
                <a16:creationId xmlns:a16="http://schemas.microsoft.com/office/drawing/2014/main" id="{F6B46CF6-6DEB-DA67-9005-A71D394CA181}"/>
              </a:ext>
            </a:extLst>
          </p:cNvPr>
          <p:cNvSpPr txBox="1"/>
          <p:nvPr/>
        </p:nvSpPr>
        <p:spPr>
          <a:xfrm>
            <a:off x="2164884" y="0"/>
            <a:ext cx="7551174" cy="707886"/>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Potential Energy Surfaces</a:t>
            </a:r>
            <a:endParaRPr lang="en-GH" sz="4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8" name="!!Logo bg">
            <a:hlinkClick r:id="rId2" action="ppaction://hlinksldjump" tooltip="Go to Course Title"/>
            <a:extLst>
              <a:ext uri="{FF2B5EF4-FFF2-40B4-BE49-F238E27FC236}">
                <a16:creationId xmlns:a16="http://schemas.microsoft.com/office/drawing/2014/main" id="{166FC41C-D5CA-9E1B-B8DA-BF3ED2D7028E}"/>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9" name="!!KNUST Logo" descr="KNUST_logo Vector.png">
            <a:hlinkClick r:id="rId2" action="ppaction://hlinksldjump" tooltip="Go to Course Title"/>
            <a:extLst>
              <a:ext uri="{FF2B5EF4-FFF2-40B4-BE49-F238E27FC236}">
                <a16:creationId xmlns:a16="http://schemas.microsoft.com/office/drawing/2014/main" id="{09A92C66-89D5-7D88-2D79-62C54FABB88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0" name="Slide Number Placeholder 9">
            <a:extLst>
              <a:ext uri="{FF2B5EF4-FFF2-40B4-BE49-F238E27FC236}">
                <a16:creationId xmlns:a16="http://schemas.microsoft.com/office/drawing/2014/main" id="{8E02E249-E441-8441-F8A1-7FBC8EA69DF1}"/>
              </a:ext>
            </a:extLst>
          </p:cNvPr>
          <p:cNvSpPr>
            <a:spLocks noGrp="1"/>
          </p:cNvSpPr>
          <p:nvPr>
            <p:ph type="sldNum" sz="quarter" idx="12"/>
          </p:nvPr>
        </p:nvSpPr>
        <p:spPr/>
        <p:txBody>
          <a:bodyPr/>
          <a:lstStyle/>
          <a:p>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9</a:t>
            </a:r>
            <a:endParaRPr lang="en-GH" sz="2000" dirty="0"/>
          </a:p>
        </p:txBody>
      </p:sp>
      <p:sp>
        <p:nvSpPr>
          <p:cNvPr id="4" name="TextBox 3">
            <a:extLst>
              <a:ext uri="{FF2B5EF4-FFF2-40B4-BE49-F238E27FC236}">
                <a16:creationId xmlns:a16="http://schemas.microsoft.com/office/drawing/2014/main" id="{AF16210A-BCAC-6C35-70ED-2DE9646C72CD}"/>
              </a:ext>
            </a:extLst>
          </p:cNvPr>
          <p:cNvSpPr txBox="1"/>
          <p:nvPr/>
        </p:nvSpPr>
        <p:spPr>
          <a:xfrm>
            <a:off x="0" y="3794219"/>
            <a:ext cx="7043057" cy="3139321"/>
          </a:xfrm>
          <a:prstGeom prst="rect">
            <a:avLst/>
          </a:prstGeom>
          <a:noFill/>
        </p:spPr>
        <p:txBody>
          <a:bodyPr wrap="square">
            <a:spAutoFit/>
          </a:bodyPr>
          <a:lstStyle/>
          <a:p>
            <a:pPr marL="342900" marR="0" lvl="0" indent="-342900" algn="l">
              <a:buFont typeface="Wingdings" panose="05000000000000000000" pitchFamily="2" charset="2"/>
              <a:buChar char="Ø"/>
            </a:pPr>
            <a:r>
              <a:rPr lang="en-US" sz="2200" i="0" dirty="0">
                <a:solidFill>
                  <a:schemeClr val="tx1"/>
                </a:solidFill>
                <a:effectLst/>
                <a:latin typeface="Times New Roman" panose="02020603050405020304" pitchFamily="18" charset="0"/>
                <a:cs typeface="Times New Roman" panose="02020603050405020304" pitchFamily="18" charset="0"/>
              </a:rPr>
              <a:t>PES do not show kinetic energy, only </a:t>
            </a:r>
            <a:r>
              <a:rPr lang="en-US" sz="2200" b="1" i="0" dirty="0">
                <a:solidFill>
                  <a:schemeClr val="tx1"/>
                </a:solidFill>
                <a:effectLst/>
                <a:latin typeface="Times New Roman" panose="02020603050405020304" pitchFamily="18" charset="0"/>
                <a:cs typeface="Times New Roman" panose="02020603050405020304" pitchFamily="18" charset="0"/>
              </a:rPr>
              <a:t>potential energy.</a:t>
            </a:r>
          </a:p>
          <a:p>
            <a:pPr marL="285750" marR="0" lvl="0" indent="-285750" algn="l">
              <a:buFont typeface="Wingdings" panose="05000000000000000000" pitchFamily="2" charset="2"/>
              <a:buChar char="Ø"/>
            </a:pPr>
            <a:endParaRPr lang="en-US" sz="2200" i="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l">
              <a:buFont typeface="Wingdings" panose="05000000000000000000" pitchFamily="2" charset="2"/>
              <a:buChar char="Ø"/>
            </a:pPr>
            <a:r>
              <a:rPr lang="en-US" sz="2200" i="0" dirty="0">
                <a:solidFill>
                  <a:schemeClr val="tx1"/>
                </a:solidFill>
                <a:effectLst/>
                <a:latin typeface="Times New Roman" panose="02020603050405020304" pitchFamily="18" charset="0"/>
                <a:cs typeface="Times New Roman" panose="02020603050405020304" pitchFamily="18" charset="0"/>
              </a:rPr>
              <a:t>At T = 0 K (no KE), species will want to be at the lowest possible potential energy, (i.e., at a minimum on the PES).</a:t>
            </a:r>
          </a:p>
          <a:p>
            <a:pPr marL="285750" marR="0" lvl="0" indent="-285750" algn="l">
              <a:buFont typeface="Wingdings" panose="05000000000000000000" pitchFamily="2" charset="2"/>
              <a:buChar char="Ø"/>
            </a:pPr>
            <a:endParaRPr lang="en-US" sz="2200" i="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l">
              <a:buFont typeface="Wingdings" panose="05000000000000000000" pitchFamily="2" charset="2"/>
              <a:buChar char="Ø"/>
            </a:pPr>
            <a:r>
              <a:rPr lang="en-US" sz="2200" i="0" dirty="0">
                <a:solidFill>
                  <a:schemeClr val="tx1"/>
                </a:solidFill>
                <a:effectLst/>
                <a:latin typeface="Times New Roman" panose="02020603050405020304" pitchFamily="18" charset="0"/>
                <a:cs typeface="Times New Roman" panose="02020603050405020304" pitchFamily="18" charset="0"/>
              </a:rPr>
              <a:t>Between any two </a:t>
            </a:r>
            <a:r>
              <a:rPr lang="en-US" sz="2200" b="1" i="0" dirty="0">
                <a:solidFill>
                  <a:schemeClr val="tx1"/>
                </a:solidFill>
                <a:effectLst/>
                <a:latin typeface="Times New Roman" panose="02020603050405020304" pitchFamily="18" charset="0"/>
                <a:cs typeface="Times New Roman" panose="02020603050405020304" pitchFamily="18" charset="0"/>
              </a:rPr>
              <a:t>minima (valley bottoms) </a:t>
            </a:r>
            <a:r>
              <a:rPr lang="en-US" sz="2200" i="0" dirty="0">
                <a:solidFill>
                  <a:schemeClr val="tx1"/>
                </a:solidFill>
                <a:effectLst/>
                <a:latin typeface="Times New Roman" panose="02020603050405020304" pitchFamily="18" charset="0"/>
                <a:cs typeface="Times New Roman" panose="02020603050405020304" pitchFamily="18" charset="0"/>
              </a:rPr>
              <a:t>the lowest energy path will pass through a maximum at a saddle point, which we call that </a:t>
            </a:r>
            <a:r>
              <a:rPr lang="en-US" sz="2200" b="1" i="0" dirty="0">
                <a:solidFill>
                  <a:schemeClr val="tx1"/>
                </a:solidFill>
                <a:effectLst/>
                <a:latin typeface="Times New Roman" panose="02020603050405020304" pitchFamily="18" charset="0"/>
                <a:cs typeface="Times New Roman" panose="02020603050405020304" pitchFamily="18" charset="0"/>
              </a:rPr>
              <a:t>saddle point</a:t>
            </a:r>
            <a:r>
              <a:rPr lang="en-US" sz="2200" i="0" dirty="0">
                <a:solidFill>
                  <a:schemeClr val="tx1"/>
                </a:solidFill>
                <a:effectLst/>
                <a:latin typeface="Times New Roman" panose="02020603050405020304" pitchFamily="18" charset="0"/>
                <a:cs typeface="Times New Roman" panose="02020603050405020304" pitchFamily="18" charset="0"/>
              </a:rPr>
              <a:t> a transition-state structure.</a:t>
            </a:r>
            <a:endParaRPr lang="en-US" sz="2200" i="0" dirty="0">
              <a:solidFill>
                <a:srgbClr val="000000"/>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BB802E2-DE84-FB82-23C6-4C16A2302C6F}"/>
              </a:ext>
            </a:extLst>
          </p:cNvPr>
          <p:cNvPicPr>
            <a:picLocks noChangeAspect="1"/>
          </p:cNvPicPr>
          <p:nvPr/>
        </p:nvPicPr>
        <p:blipFill>
          <a:blip r:embed="rId4"/>
          <a:stretch>
            <a:fillRect/>
          </a:stretch>
        </p:blipFill>
        <p:spPr>
          <a:xfrm>
            <a:off x="202238" y="751083"/>
            <a:ext cx="6200775" cy="2914650"/>
          </a:xfrm>
          <a:prstGeom prst="rect">
            <a:avLst/>
          </a:prstGeom>
        </p:spPr>
      </p:pic>
      <p:pic>
        <p:nvPicPr>
          <p:cNvPr id="14" name="Picture 13" descr="Generating potential energy surfaces - Visualize Organic Chemistry">
            <a:extLst>
              <a:ext uri="{FF2B5EF4-FFF2-40B4-BE49-F238E27FC236}">
                <a16:creationId xmlns:a16="http://schemas.microsoft.com/office/drawing/2014/main" id="{9C147C26-29AC-0DFD-19C5-BC870EEAB610}"/>
              </a:ext>
            </a:extLst>
          </p:cNvPr>
          <p:cNvPicPr>
            <a:picLocks noChangeAspect="1"/>
          </p:cNvPicPr>
          <p:nvPr/>
        </p:nvPicPr>
        <p:blipFill>
          <a:blip r:embed="rId5"/>
          <a:stretch>
            <a:fillRect/>
          </a:stretch>
        </p:blipFill>
        <p:spPr>
          <a:xfrm>
            <a:off x="6890811" y="1450158"/>
            <a:ext cx="5301189" cy="3363025"/>
          </a:xfrm>
          <a:prstGeom prst="rect">
            <a:avLst/>
          </a:prstGeom>
        </p:spPr>
      </p:pic>
    </p:spTree>
    <p:extLst>
      <p:ext uri="{BB962C8B-B14F-4D97-AF65-F5344CB8AC3E}">
        <p14:creationId xmlns:p14="http://schemas.microsoft.com/office/powerpoint/2010/main" val="1201393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nu bg">
            <a:extLst>
              <a:ext uri="{FF2B5EF4-FFF2-40B4-BE49-F238E27FC236}">
                <a16:creationId xmlns:a16="http://schemas.microsoft.com/office/drawing/2014/main" id="{D4040994-5D4E-2A46-15A7-2455A382C78B}"/>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496E53E-B897-E162-CC5F-9F7BFE18E8A9}"/>
              </a:ext>
            </a:extLst>
          </p:cNvPr>
          <p:cNvSpPr>
            <a:spLocks noGrp="1"/>
          </p:cNvSpPr>
          <p:nvPr>
            <p:ph type="title"/>
          </p:nvPr>
        </p:nvSpPr>
        <p:spPr>
          <a:xfrm>
            <a:off x="838200" y="18256"/>
            <a:ext cx="10515600" cy="662782"/>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Energy Profile Diagram (EPD)</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9" name="!!Logo bg">
            <a:hlinkClick r:id="rId2" action="ppaction://hlinksldjump" tooltip="Go to Course Title"/>
            <a:extLst>
              <a:ext uri="{FF2B5EF4-FFF2-40B4-BE49-F238E27FC236}">
                <a16:creationId xmlns:a16="http://schemas.microsoft.com/office/drawing/2014/main" id="{FCEED76F-1511-E14C-0DFA-AA91380204BB}"/>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KNUST Logo" descr="KNUST_logo Vector.png">
            <a:hlinkClick r:id="rId2" action="ppaction://hlinksldjump" tooltip="Go to Course Title"/>
            <a:extLst>
              <a:ext uri="{FF2B5EF4-FFF2-40B4-BE49-F238E27FC236}">
                <a16:creationId xmlns:a16="http://schemas.microsoft.com/office/drawing/2014/main" id="{F3BAFB43-9F4F-2301-4B6C-71DE358AA96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1" name="Slide Number Placeholder 10">
            <a:extLst>
              <a:ext uri="{FF2B5EF4-FFF2-40B4-BE49-F238E27FC236}">
                <a16:creationId xmlns:a16="http://schemas.microsoft.com/office/drawing/2014/main" id="{72B037F4-CEC1-5662-1B86-27ADB0919961}"/>
              </a:ext>
            </a:extLst>
          </p:cNvPr>
          <p:cNvSpPr>
            <a:spLocks noGrp="1"/>
          </p:cNvSpPr>
          <p:nvPr>
            <p:ph type="sldNum" sz="quarter" idx="12"/>
          </p:nvPr>
        </p:nvSpPr>
        <p:spPr/>
        <p:txBody>
          <a:bodyPr/>
          <a:lstStyle/>
          <a:p>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10</a:t>
            </a:r>
            <a:endParaRPr lang="en-GH" sz="2000" dirty="0"/>
          </a:p>
        </p:txBody>
      </p:sp>
      <p:pic>
        <p:nvPicPr>
          <p:cNvPr id="12" name="Picture 11">
            <a:extLst>
              <a:ext uri="{FF2B5EF4-FFF2-40B4-BE49-F238E27FC236}">
                <a16:creationId xmlns:a16="http://schemas.microsoft.com/office/drawing/2014/main" id="{657AFE07-1DCB-85EC-81F6-D870C1D9189F}"/>
              </a:ext>
            </a:extLst>
          </p:cNvPr>
          <p:cNvPicPr>
            <a:picLocks noChangeAspect="1"/>
          </p:cNvPicPr>
          <p:nvPr/>
        </p:nvPicPr>
        <p:blipFill>
          <a:blip r:embed="rId4">
            <a:extLst>
              <a:ext uri="{28A0092B-C50C-407E-A947-70E740481C1C}">
                <a14:useLocalDpi xmlns:a14="http://schemas.microsoft.com/office/drawing/2010/main" val="0"/>
              </a:ext>
            </a:extLst>
          </a:blip>
          <a:srcRect l="2522" t="3585" r="1190" b="8815"/>
          <a:stretch>
            <a:fillRect/>
          </a:stretch>
        </p:blipFill>
        <p:spPr>
          <a:xfrm>
            <a:off x="390614" y="4648375"/>
            <a:ext cx="4518843" cy="21593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4" name="TextBox 13">
            <a:extLst>
              <a:ext uri="{FF2B5EF4-FFF2-40B4-BE49-F238E27FC236}">
                <a16:creationId xmlns:a16="http://schemas.microsoft.com/office/drawing/2014/main" id="{81745BAB-43F3-C1F2-5526-65AF6CC343E3}"/>
              </a:ext>
            </a:extLst>
          </p:cNvPr>
          <p:cNvSpPr txBox="1"/>
          <p:nvPr/>
        </p:nvSpPr>
        <p:spPr>
          <a:xfrm>
            <a:off x="253313" y="681038"/>
            <a:ext cx="5842687" cy="4001095"/>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EPD: a graph that shows how the energy of a chemical system changes as reactants turn into products during a reaction</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These diagrams like this (“reaction coordinate” diagrams) provide essential connections between important chemical observables – </a:t>
            </a:r>
          </a:p>
          <a:p>
            <a:pPr marL="742950" lvl="1"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structure </a:t>
            </a:r>
          </a:p>
          <a:p>
            <a:pPr marL="742950" lvl="1"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stability </a:t>
            </a:r>
          </a:p>
          <a:p>
            <a:pPr marL="742950" lvl="1"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reactivity and selectivity </a:t>
            </a:r>
          </a:p>
          <a:p>
            <a:pPr marL="742950" lvl="1"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energy. </a:t>
            </a:r>
          </a:p>
        </p:txBody>
      </p:sp>
      <p:pic>
        <p:nvPicPr>
          <p:cNvPr id="16" name="Picture 15">
            <a:extLst>
              <a:ext uri="{FF2B5EF4-FFF2-40B4-BE49-F238E27FC236}">
                <a16:creationId xmlns:a16="http://schemas.microsoft.com/office/drawing/2014/main" id="{A53F119E-2A50-BE5F-ED78-1061B0FB46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6248" y="856656"/>
            <a:ext cx="2891905" cy="2976376"/>
          </a:xfrm>
          <a:prstGeom prst="rect">
            <a:avLst/>
          </a:prstGeom>
        </p:spPr>
      </p:pic>
      <p:pic>
        <p:nvPicPr>
          <p:cNvPr id="18" name="Picture 17">
            <a:extLst>
              <a:ext uri="{FF2B5EF4-FFF2-40B4-BE49-F238E27FC236}">
                <a16:creationId xmlns:a16="http://schemas.microsoft.com/office/drawing/2014/main" id="{CE1C9092-E67E-37ED-A668-2805CCD7A002}"/>
              </a:ext>
            </a:extLst>
          </p:cNvPr>
          <p:cNvPicPr>
            <a:picLocks noChangeAspect="1"/>
          </p:cNvPicPr>
          <p:nvPr/>
        </p:nvPicPr>
        <p:blipFill>
          <a:blip r:embed="rId6">
            <a:extLst>
              <a:ext uri="{28A0092B-C50C-407E-A947-70E740481C1C}">
                <a14:useLocalDpi xmlns:a14="http://schemas.microsoft.com/office/drawing/2010/main" val="0"/>
              </a:ext>
            </a:extLst>
          </a:blip>
          <a:srcRect t="2717" r="8009" b="1730"/>
          <a:stretch>
            <a:fillRect/>
          </a:stretch>
        </p:blipFill>
        <p:spPr>
          <a:xfrm>
            <a:off x="8944353" y="1058372"/>
            <a:ext cx="2877166" cy="2661651"/>
          </a:xfrm>
          <a:prstGeom prst="rect">
            <a:avLst/>
          </a:prstGeom>
        </p:spPr>
      </p:pic>
      <p:sp>
        <p:nvSpPr>
          <p:cNvPr id="20" name="TextBox 19">
            <a:extLst>
              <a:ext uri="{FF2B5EF4-FFF2-40B4-BE49-F238E27FC236}">
                <a16:creationId xmlns:a16="http://schemas.microsoft.com/office/drawing/2014/main" id="{BB346D62-2785-1EB9-840C-58022F1BEB91}"/>
              </a:ext>
            </a:extLst>
          </p:cNvPr>
          <p:cNvSpPr txBox="1"/>
          <p:nvPr/>
        </p:nvSpPr>
        <p:spPr>
          <a:xfrm>
            <a:off x="5817141" y="4213025"/>
            <a:ext cx="6374859" cy="1785104"/>
          </a:xfrm>
          <a:prstGeom prst="rect">
            <a:avLst/>
          </a:prstGeom>
          <a:noFill/>
        </p:spPr>
        <p:txBody>
          <a:bodyPr wrap="square">
            <a:spAutoFit/>
          </a:bodyPr>
          <a:lstStyle/>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Energy minima correspond to </a:t>
            </a:r>
            <a:r>
              <a:rPr lang="en-US" sz="2200" b="1" dirty="0">
                <a:latin typeface="Times New Roman" panose="02020603050405020304" pitchFamily="18" charset="0"/>
                <a:cs typeface="Times New Roman" panose="02020603050405020304" pitchFamily="18" charset="0"/>
              </a:rPr>
              <a:t>equilibrium structures.</a:t>
            </a:r>
          </a:p>
          <a:p>
            <a:pPr marL="285750" indent="-28575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energy maximum corresponds to </a:t>
            </a:r>
            <a:r>
              <a:rPr lang="en-US" sz="2200" b="1" dirty="0">
                <a:latin typeface="Times New Roman" panose="02020603050405020304" pitchFamily="18" charset="0"/>
                <a:cs typeface="Times New Roman" panose="02020603050405020304" pitchFamily="18" charset="0"/>
              </a:rPr>
              <a:t>a transition state structure. </a:t>
            </a:r>
          </a:p>
        </p:txBody>
      </p:sp>
    </p:spTree>
    <p:extLst>
      <p:ext uri="{BB962C8B-B14F-4D97-AF65-F5344CB8AC3E}">
        <p14:creationId xmlns:p14="http://schemas.microsoft.com/office/powerpoint/2010/main" val="247568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nu bg">
            <a:extLst>
              <a:ext uri="{FF2B5EF4-FFF2-40B4-BE49-F238E27FC236}">
                <a16:creationId xmlns:a16="http://schemas.microsoft.com/office/drawing/2014/main" id="{BF6FE6D5-17F1-F4F1-1BE2-4A5B2DE8202A}"/>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B5B5604A-95A3-0809-483C-DCA5EC175EC4}"/>
              </a:ext>
            </a:extLst>
          </p:cNvPr>
          <p:cNvSpPr txBox="1"/>
          <p:nvPr/>
        </p:nvSpPr>
        <p:spPr>
          <a:xfrm>
            <a:off x="1943100" y="0"/>
            <a:ext cx="7687597" cy="1323439"/>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Energy Profile Diagram (EPD)</a:t>
            </a:r>
            <a:endParaRPr lang="en-GH" sz="4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6" name="!!Logo bg">
            <a:hlinkClick r:id="rId2" action="ppaction://hlinksldjump" tooltip="Go to Course Title"/>
            <a:extLst>
              <a:ext uri="{FF2B5EF4-FFF2-40B4-BE49-F238E27FC236}">
                <a16:creationId xmlns:a16="http://schemas.microsoft.com/office/drawing/2014/main" id="{FA1DDCC3-5F70-E869-29A0-42F538EAB4BF}"/>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7" name="!!KNUST Logo" descr="KNUST_logo Vector.png">
            <a:hlinkClick r:id="rId2" action="ppaction://hlinksldjump" tooltip="Go to Course Title"/>
            <a:extLst>
              <a:ext uri="{FF2B5EF4-FFF2-40B4-BE49-F238E27FC236}">
                <a16:creationId xmlns:a16="http://schemas.microsoft.com/office/drawing/2014/main" id="{F79B1654-061C-A6CB-4F08-40CDE5751A6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8" name="Slide Number Placeholder 7">
            <a:extLst>
              <a:ext uri="{FF2B5EF4-FFF2-40B4-BE49-F238E27FC236}">
                <a16:creationId xmlns:a16="http://schemas.microsoft.com/office/drawing/2014/main" id="{44606487-251B-25A6-4F0B-DB89F741D254}"/>
              </a:ext>
            </a:extLst>
          </p:cNvPr>
          <p:cNvSpPr>
            <a:spLocks noGrp="1"/>
          </p:cNvSpPr>
          <p:nvPr>
            <p:ph type="sldNum" sz="quarter" idx="12"/>
          </p:nvPr>
        </p:nvSpPr>
        <p:spPr/>
        <p:txBody>
          <a:bodyPr/>
          <a:lstStyle/>
          <a:p>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11</a:t>
            </a:r>
            <a:endParaRPr lang="en-GH" sz="2000" dirty="0"/>
          </a:p>
        </p:txBody>
      </p:sp>
      <p:pic>
        <p:nvPicPr>
          <p:cNvPr id="9" name="Picture 8">
            <a:extLst>
              <a:ext uri="{FF2B5EF4-FFF2-40B4-BE49-F238E27FC236}">
                <a16:creationId xmlns:a16="http://schemas.microsoft.com/office/drawing/2014/main" id="{846D3392-D8CC-58FE-1121-82D0FBF5CF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706665"/>
            <a:ext cx="6110382" cy="3841758"/>
          </a:xfrm>
          <a:prstGeom prst="rect">
            <a:avLst/>
          </a:prstGeom>
        </p:spPr>
      </p:pic>
      <p:sp>
        <p:nvSpPr>
          <p:cNvPr id="13" name="TextBox 12">
            <a:extLst>
              <a:ext uri="{FF2B5EF4-FFF2-40B4-BE49-F238E27FC236}">
                <a16:creationId xmlns:a16="http://schemas.microsoft.com/office/drawing/2014/main" id="{F60E198A-D674-FDE6-8700-3938E7406742}"/>
              </a:ext>
            </a:extLst>
          </p:cNvPr>
          <p:cNvSpPr txBox="1"/>
          <p:nvPr/>
        </p:nvSpPr>
        <p:spPr>
          <a:xfrm>
            <a:off x="99721" y="4629109"/>
            <a:ext cx="5910940" cy="2246769"/>
          </a:xfrm>
          <a:prstGeom prst="rect">
            <a:avLst/>
          </a:prstGeom>
          <a:noFill/>
        </p:spPr>
        <p:txBody>
          <a:bodyPr wrap="square">
            <a:spAutoFit/>
          </a:bodyPr>
          <a:lstStyle/>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relative energies of equilibrium structures give the relative stabilities of the reactant and product (the </a:t>
            </a:r>
            <a:r>
              <a:rPr lang="en-US" sz="2000" b="1" dirty="0">
                <a:latin typeface="Times New Roman" panose="02020603050405020304" pitchFamily="18" charset="0"/>
                <a:cs typeface="Times New Roman" panose="02020603050405020304" pitchFamily="18" charset="0"/>
              </a:rPr>
              <a:t>thermodynamics</a:t>
            </a:r>
            <a:r>
              <a:rPr lang="en-US" sz="2000" dirty="0">
                <a:latin typeface="Times New Roman" panose="02020603050405020304" pitchFamily="18" charset="0"/>
                <a:cs typeface="Times New Roman" panose="02020603050405020304" pitchFamily="18" charset="0"/>
              </a:rPr>
              <a:t> of reaction, </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ve</a:t>
            </a:r>
            <a:r>
              <a:rPr lang="en-US" sz="2000" b="1" dirty="0">
                <a:latin typeface="Times New Roman" panose="02020603050405020304" pitchFamily="18" charset="0"/>
                <a:cs typeface="Times New Roman" panose="02020603050405020304" pitchFamily="18" charset="0"/>
              </a:rPr>
              <a:t> Gibbs free</a:t>
            </a:r>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is the </a:t>
            </a:r>
            <a:r>
              <a:rPr lang="en-US" sz="2000" b="1" dirty="0">
                <a:solidFill>
                  <a:srgbClr val="FF0000"/>
                </a:solidFill>
                <a:latin typeface="Times New Roman" panose="02020603050405020304" pitchFamily="18" charset="0"/>
                <a:cs typeface="Times New Roman" panose="02020603050405020304" pitchFamily="18" charset="0"/>
              </a:rPr>
              <a:t>thermodynamically-favored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pathway leading to the </a:t>
            </a:r>
            <a:r>
              <a:rPr lang="en-US" sz="2000" b="1" dirty="0">
                <a:solidFill>
                  <a:srgbClr val="FF0000"/>
                </a:solidFill>
                <a:latin typeface="Times New Roman" panose="02020603050405020304" pitchFamily="18" charset="0"/>
                <a:cs typeface="Times New Roman" panose="02020603050405020304" pitchFamily="18" charset="0"/>
              </a:rPr>
              <a:t>thermodynamic product</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975805B9-5F99-625A-92B5-87B263EF10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88630" y="625979"/>
            <a:ext cx="5725681" cy="3921222"/>
          </a:xfrm>
          <a:prstGeom prst="rect">
            <a:avLst/>
          </a:prstGeom>
        </p:spPr>
      </p:pic>
      <p:sp>
        <p:nvSpPr>
          <p:cNvPr id="3" name="TextBox 2">
            <a:extLst>
              <a:ext uri="{FF2B5EF4-FFF2-40B4-BE49-F238E27FC236}">
                <a16:creationId xmlns:a16="http://schemas.microsoft.com/office/drawing/2014/main" id="{8CDE02C2-C52D-7699-1DFE-D396E94FF514}"/>
              </a:ext>
            </a:extLst>
          </p:cNvPr>
          <p:cNvSpPr txBox="1"/>
          <p:nvPr/>
        </p:nvSpPr>
        <p:spPr>
          <a:xfrm>
            <a:off x="5876969" y="4474706"/>
            <a:ext cx="6110382" cy="2246769"/>
          </a:xfrm>
          <a:prstGeom prst="rect">
            <a:avLst/>
          </a:prstGeom>
          <a:noFill/>
        </p:spPr>
        <p:txBody>
          <a:bodyPr wrap="square">
            <a:spAutoFit/>
          </a:bodyPr>
          <a:lstStyle/>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energy of the transition state relative to the equilibrium structures provides information about the relative difficulties going on between them (the </a:t>
            </a:r>
            <a:r>
              <a:rPr lang="en-US" sz="2000" b="1" dirty="0">
                <a:latin typeface="Times New Roman" panose="02020603050405020304" pitchFamily="18" charset="0"/>
                <a:cs typeface="Times New Roman" panose="02020603050405020304" pitchFamily="18" charset="0"/>
              </a:rPr>
              <a:t>kinetics </a:t>
            </a:r>
            <a:r>
              <a:rPr lang="en-US" sz="2000" dirty="0">
                <a:latin typeface="Times New Roman" panose="02020603050405020304" pitchFamily="18" charset="0"/>
                <a:cs typeface="Times New Roman" panose="02020603050405020304" pitchFamily="18" charset="0"/>
              </a:rPr>
              <a:t>of reaction, </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ve</a:t>
            </a:r>
            <a:r>
              <a:rPr lang="en-US" sz="2000" b="1" dirty="0">
                <a:latin typeface="Times New Roman" panose="02020603050405020304" pitchFamily="18" charset="0"/>
                <a:cs typeface="Times New Roman" panose="02020603050405020304" pitchFamily="18" charset="0"/>
              </a:rPr>
              <a:t> Gibbs free</a:t>
            </a:r>
            <a:r>
              <a:rPr lang="en-US" sz="20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It is the </a:t>
            </a:r>
            <a:r>
              <a:rPr lang="en-US" sz="2000" b="1" dirty="0">
                <a:solidFill>
                  <a:srgbClr val="FF0000"/>
                </a:solidFill>
                <a:latin typeface="Times New Roman" panose="02020603050405020304" pitchFamily="18" charset="0"/>
                <a:cs typeface="Times New Roman" panose="02020603050405020304" pitchFamily="18" charset="0"/>
              </a:rPr>
              <a:t>kinetically-favored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pathway leading to the </a:t>
            </a:r>
            <a:r>
              <a:rPr lang="en-US" sz="2000" b="1" dirty="0">
                <a:solidFill>
                  <a:srgbClr val="FF0000"/>
                </a:solidFill>
                <a:latin typeface="Times New Roman" panose="02020603050405020304" pitchFamily="18" charset="0"/>
                <a:cs typeface="Times New Roman" panose="02020603050405020304" pitchFamily="18" charset="0"/>
              </a:rPr>
              <a:t>kinetic product</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19185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nu bg">
            <a:extLst>
              <a:ext uri="{FF2B5EF4-FFF2-40B4-BE49-F238E27FC236}">
                <a16:creationId xmlns:a16="http://schemas.microsoft.com/office/drawing/2014/main" id="{D226E8EB-66BF-219E-E90E-02B55FC0ECBC}"/>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7" name="!!Logo bg">
            <a:hlinkClick r:id="rId2" action="ppaction://hlinksldjump" tooltip="Go to Course Title"/>
            <a:extLst>
              <a:ext uri="{FF2B5EF4-FFF2-40B4-BE49-F238E27FC236}">
                <a16:creationId xmlns:a16="http://schemas.microsoft.com/office/drawing/2014/main" id="{D895C06E-D588-05E6-C1E0-12FBA49CEE8D}"/>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KNUST Logo" descr="KNUST_logo Vector.png">
            <a:hlinkClick r:id="rId2" action="ppaction://hlinksldjump" tooltip="Go to Course Title"/>
            <a:extLst>
              <a:ext uri="{FF2B5EF4-FFF2-40B4-BE49-F238E27FC236}">
                <a16:creationId xmlns:a16="http://schemas.microsoft.com/office/drawing/2014/main" id="{5FE8EBF3-BFC9-92E7-3FAD-43E21180004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9" name="Slide Number Placeholder 8">
            <a:extLst>
              <a:ext uri="{FF2B5EF4-FFF2-40B4-BE49-F238E27FC236}">
                <a16:creationId xmlns:a16="http://schemas.microsoft.com/office/drawing/2014/main" id="{BFA4FE21-F7CE-E96B-575C-B466EC801E12}"/>
              </a:ext>
            </a:extLst>
          </p:cNvPr>
          <p:cNvSpPr>
            <a:spLocks noGrp="1"/>
          </p:cNvSpPr>
          <p:nvPr>
            <p:ph type="sldNum" sz="quarter" idx="12"/>
          </p:nvPr>
        </p:nvSpPr>
        <p:spPr/>
        <p:txBody>
          <a:bodyPr/>
          <a:lstStyle/>
          <a:p>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12</a:t>
            </a:r>
            <a:endParaRPr lang="en-GH" sz="2000" dirty="0"/>
          </a:p>
        </p:txBody>
      </p:sp>
      <p:sp>
        <p:nvSpPr>
          <p:cNvPr id="10" name="TextBox 9">
            <a:extLst>
              <a:ext uri="{FF2B5EF4-FFF2-40B4-BE49-F238E27FC236}">
                <a16:creationId xmlns:a16="http://schemas.microsoft.com/office/drawing/2014/main" id="{0E03A133-A75E-0834-FB35-30D865300FDF}"/>
              </a:ext>
            </a:extLst>
          </p:cNvPr>
          <p:cNvSpPr txBox="1"/>
          <p:nvPr/>
        </p:nvSpPr>
        <p:spPr>
          <a:xfrm>
            <a:off x="2824649" y="10540"/>
            <a:ext cx="6970369" cy="1323439"/>
          </a:xfrm>
          <a:prstGeom prst="rect">
            <a:avLst/>
          </a:prstGeom>
          <a:noFill/>
        </p:spPr>
        <p:txBody>
          <a:bodyPr wrap="square" rtlCol="0">
            <a:spAutoFit/>
          </a:bodyPr>
          <a:lstStyle/>
          <a:p>
            <a:pPr algn="ctr"/>
            <a:r>
              <a:rPr lang="en-US" sz="4000" b="1" dirty="0">
                <a:solidFill>
                  <a:schemeClr val="bg1"/>
                </a:solidFill>
                <a:latin typeface="Tahoma" panose="020B0604030504040204" pitchFamily="34" charset="0"/>
                <a:ea typeface="Tahoma" panose="020B0604030504040204" pitchFamily="34" charset="0"/>
                <a:cs typeface="Tahoma" panose="020B0604030504040204" pitchFamily="34" charset="0"/>
              </a:rPr>
              <a:t>Energy Profile Diagram (EPD)</a:t>
            </a:r>
            <a:endParaRPr lang="en-GH" sz="4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AB7D7F97-67FF-F75D-57BF-9AC58A9087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8628" y="1124337"/>
            <a:ext cx="7193372" cy="4575784"/>
          </a:xfrm>
          <a:prstGeom prst="rect">
            <a:avLst/>
          </a:prstGeom>
        </p:spPr>
      </p:pic>
      <p:sp>
        <p:nvSpPr>
          <p:cNvPr id="14" name="TextBox 13">
            <a:extLst>
              <a:ext uri="{FF2B5EF4-FFF2-40B4-BE49-F238E27FC236}">
                <a16:creationId xmlns:a16="http://schemas.microsoft.com/office/drawing/2014/main" id="{1825E373-C3D5-5DE2-A3BE-E10E132355BB}"/>
              </a:ext>
            </a:extLst>
          </p:cNvPr>
          <p:cNvSpPr txBox="1"/>
          <p:nvPr/>
        </p:nvSpPr>
        <p:spPr>
          <a:xfrm>
            <a:off x="240085" y="1014018"/>
            <a:ext cx="4758543" cy="4154984"/>
          </a:xfrm>
          <a:prstGeom prst="rect">
            <a:avLst/>
          </a:prstGeom>
          <a:noFill/>
        </p:spPr>
        <p:txBody>
          <a:bodyPr wrap="square">
            <a:spAutoFit/>
          </a:bodyPr>
          <a:lstStyle/>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complete reaction pathway may comprise several steps and involve several different transition states and </a:t>
            </a:r>
            <a:r>
              <a:rPr lang="en-US" sz="2400" b="1" dirty="0">
                <a:latin typeface="Times New Roman" panose="02020603050405020304" pitchFamily="18" charset="0"/>
                <a:cs typeface="Times New Roman" panose="02020603050405020304" pitchFamily="18" charset="0"/>
              </a:rPr>
              <a:t>high-energy reactive intermediates. </a:t>
            </a:r>
          </a:p>
          <a:p>
            <a:pPr marL="285750" indent="-28575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Such a diagram describes the mechanism of a reaction, </a:t>
            </a:r>
            <a:r>
              <a:rPr lang="en-US" sz="2400" b="1" dirty="0">
                <a:latin typeface="Times New Roman" panose="02020603050405020304" pitchFamily="18" charset="0"/>
                <a:cs typeface="Times New Roman" panose="02020603050405020304" pitchFamily="18" charset="0"/>
              </a:rPr>
              <a:t>the rate-limiting step </a:t>
            </a:r>
            <a:r>
              <a:rPr lang="en-US" sz="2400" dirty="0">
                <a:latin typeface="Times New Roman" panose="02020603050405020304" pitchFamily="18" charset="0"/>
                <a:cs typeface="Times New Roman" panose="02020603050405020304" pitchFamily="18" charset="0"/>
              </a:rPr>
              <a:t>for which proceeds via the highest-energy transition state.</a:t>
            </a:r>
          </a:p>
        </p:txBody>
      </p:sp>
      <p:sp>
        <p:nvSpPr>
          <p:cNvPr id="3" name="TextBox 2">
            <a:extLst>
              <a:ext uri="{FF2B5EF4-FFF2-40B4-BE49-F238E27FC236}">
                <a16:creationId xmlns:a16="http://schemas.microsoft.com/office/drawing/2014/main" id="{C2C7FAA6-0C88-B6F2-3420-3B03D971F936}"/>
              </a:ext>
            </a:extLst>
          </p:cNvPr>
          <p:cNvSpPr txBox="1"/>
          <p:nvPr/>
        </p:nvSpPr>
        <p:spPr>
          <a:xfrm>
            <a:off x="202238" y="5450754"/>
            <a:ext cx="5621619" cy="1107996"/>
          </a:xfrm>
          <a:prstGeom prst="rect">
            <a:avLst/>
          </a:prstGeom>
          <a:noFill/>
        </p:spPr>
        <p:txBody>
          <a:bodyPr wrap="square">
            <a:spAutoFit/>
          </a:bodyPr>
          <a:lstStyle/>
          <a:p>
            <a:r>
              <a:rPr lang="en-US" sz="2200" b="1" dirty="0">
                <a:solidFill>
                  <a:srgbClr val="FF0000"/>
                </a:solidFill>
                <a:latin typeface="Times New Roman" panose="02020603050405020304" pitchFamily="18" charset="0"/>
                <a:cs typeface="Times New Roman" panose="02020603050405020304" pitchFamily="18" charset="0"/>
              </a:rPr>
              <a:t>NOTE:</a:t>
            </a:r>
            <a:r>
              <a:rPr lang="en-US" sz="2200" dirty="0">
                <a:solidFill>
                  <a:srgbClr val="FF000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By varying conditions (temperature, reaction time, solvent) chemists can affect the product distribution.</a:t>
            </a:r>
          </a:p>
        </p:txBody>
      </p:sp>
    </p:spTree>
    <p:extLst>
      <p:ext uri="{BB962C8B-B14F-4D97-AF65-F5344CB8AC3E}">
        <p14:creationId xmlns:p14="http://schemas.microsoft.com/office/powerpoint/2010/main" val="218259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Menu bg">
            <a:extLst>
              <a:ext uri="{FF2B5EF4-FFF2-40B4-BE49-F238E27FC236}">
                <a16:creationId xmlns:a16="http://schemas.microsoft.com/office/drawing/2014/main" id="{93958832-9131-6AD6-5A1D-617D973C18C3}"/>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3" name="Content Placeholder 2">
            <a:extLst>
              <a:ext uri="{FF2B5EF4-FFF2-40B4-BE49-F238E27FC236}">
                <a16:creationId xmlns:a16="http://schemas.microsoft.com/office/drawing/2014/main" id="{2E7AB525-33E8-2230-7C56-37978C32D070}"/>
              </a:ext>
            </a:extLst>
          </p:cNvPr>
          <p:cNvSpPr>
            <a:spLocks noGrp="1"/>
          </p:cNvSpPr>
          <p:nvPr>
            <p:ph idx="1"/>
          </p:nvPr>
        </p:nvSpPr>
        <p:spPr>
          <a:xfrm>
            <a:off x="202238" y="908212"/>
            <a:ext cx="11904905" cy="5564251"/>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It refers to the set of (nonorthogonal) one-particle functions used to build molecular orbitals, built from mathematical equations</a:t>
            </a:r>
            <a:endParaRPr lang="en-GH" sz="2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27" name="!!Logo bg">
            <a:hlinkClick r:id="rId3" action="ppaction://hlinksldjump" tooltip="Go to Course Title"/>
            <a:extLst>
              <a:ext uri="{FF2B5EF4-FFF2-40B4-BE49-F238E27FC236}">
                <a16:creationId xmlns:a16="http://schemas.microsoft.com/office/drawing/2014/main" id="{966B5B79-ED75-9169-301D-6A03C5DCC499}"/>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28" name="!!KNUST Logo" descr="KNUST_logo Vector.png">
            <a:hlinkClick r:id="rId3" action="ppaction://hlinksldjump" tooltip="Go to Course Title"/>
            <a:extLst>
              <a:ext uri="{FF2B5EF4-FFF2-40B4-BE49-F238E27FC236}">
                <a16:creationId xmlns:a16="http://schemas.microsoft.com/office/drawing/2014/main" id="{C2CCA504-8E7C-9A92-AECA-DC96D2E4240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129" name="Slide Number Placeholder 128">
            <a:extLst>
              <a:ext uri="{FF2B5EF4-FFF2-40B4-BE49-F238E27FC236}">
                <a16:creationId xmlns:a16="http://schemas.microsoft.com/office/drawing/2014/main" id="{BD7247E2-3FB5-6ABD-B3EF-F4AC676E7121}"/>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17</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8" name="Content Placeholder 2">
            <a:extLst>
              <a:ext uri="{FF2B5EF4-FFF2-40B4-BE49-F238E27FC236}">
                <a16:creationId xmlns:a16="http://schemas.microsoft.com/office/drawing/2014/main" id="{0A6D7A31-7D15-154A-996B-B8086A77136E}"/>
              </a:ext>
            </a:extLst>
          </p:cNvPr>
          <p:cNvSpPr txBox="1">
            <a:spLocks/>
          </p:cNvSpPr>
          <p:nvPr/>
        </p:nvSpPr>
        <p:spPr>
          <a:xfrm>
            <a:off x="191784" y="1808785"/>
            <a:ext cx="5904216" cy="57983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STO Basis Functions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Correct cusp behavior (finite derivative) at r → 0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Desired exponential decay at r ∞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Correctly mimic the H atom orbitals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Would be more natural choice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analytic method to evaluate the coulomb and XC (or exchange) integrals</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are hard to compute</a:t>
            </a:r>
            <a:endParaRPr lang="en-GH" dirty="0">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GH" sz="2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EB6F9936-EE8F-FD2A-5B6F-452477872F44}"/>
              </a:ext>
            </a:extLst>
          </p:cNvPr>
          <p:cNvSpPr txBox="1">
            <a:spLocks/>
          </p:cNvSpPr>
          <p:nvPr/>
        </p:nvSpPr>
        <p:spPr>
          <a:xfrm>
            <a:off x="6187715" y="2042899"/>
            <a:ext cx="6028091" cy="55642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GTO Basis Functions </a:t>
            </a:r>
          </a:p>
          <a:p>
            <a:pPr lvl="1">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Wrong cusp behavior (zero slope) at r → 0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Wrong decay behavior (too rapid) at r ∞ </a:t>
            </a:r>
          </a:p>
          <a:p>
            <a:pPr lvl="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Analytic evaluation of the coulomb and XC (or exchange) integrals (The product of the gaussian "primitives" is another gaussian.) </a:t>
            </a:r>
          </a:p>
          <a:p>
            <a:pPr lvl="1">
              <a:buFont typeface="Wingdings" panose="05000000000000000000" pitchFamily="2" charset="2"/>
              <a:buChar char="Ø"/>
            </a:pPr>
            <a:r>
              <a:rPr lang="en-US" dirty="0">
                <a:latin typeface="Times New Roman" panose="02020603050405020304" pitchFamily="18" charset="0"/>
                <a:ea typeface="Tahoma" panose="020B0604030504040204" pitchFamily="34" charset="0"/>
                <a:cs typeface="Times New Roman" panose="02020603050405020304" pitchFamily="18" charset="0"/>
              </a:rPr>
              <a:t>They are fast and combined with STO</a:t>
            </a:r>
          </a:p>
          <a:p>
            <a:pPr lvl="1">
              <a:buFont typeface="Wingdings" panose="05000000000000000000" pitchFamily="2" charset="2"/>
              <a:buChar char="Ø"/>
            </a:pPr>
            <a:endParaRPr lang="en-US" dirty="0">
              <a:latin typeface="Times New Roman" panose="02020603050405020304" pitchFamily="18" charset="0"/>
              <a:ea typeface="Tahoma" panose="020B0604030504040204" pitchFamily="34" charset="0"/>
              <a:cs typeface="Times New Roman" panose="02020603050405020304" pitchFamily="18" charset="0"/>
            </a:endParaRPr>
          </a:p>
          <a:p>
            <a:endParaRPr lang="en-GH" sz="24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6253DF42-0398-642C-19DA-B37B95A8A5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1369" y="5520923"/>
            <a:ext cx="5468113" cy="828791"/>
          </a:xfrm>
          <a:prstGeom prst="rect">
            <a:avLst/>
          </a:prstGeom>
        </p:spPr>
      </p:pic>
      <p:pic>
        <p:nvPicPr>
          <p:cNvPr id="14" name="Picture 13">
            <a:extLst>
              <a:ext uri="{FF2B5EF4-FFF2-40B4-BE49-F238E27FC236}">
                <a16:creationId xmlns:a16="http://schemas.microsoft.com/office/drawing/2014/main" id="{0A6A0205-E386-D6E0-D6AC-CBFBF00730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69444" y="5576954"/>
            <a:ext cx="5920318" cy="541162"/>
          </a:xfrm>
          <a:prstGeom prst="rect">
            <a:avLst/>
          </a:prstGeom>
        </p:spPr>
      </p:pic>
      <p:sp>
        <p:nvSpPr>
          <p:cNvPr id="6" name="Title 1">
            <a:extLst>
              <a:ext uri="{FF2B5EF4-FFF2-40B4-BE49-F238E27FC236}">
                <a16:creationId xmlns:a16="http://schemas.microsoft.com/office/drawing/2014/main" id="{FB042C17-F176-EC30-B7D9-388D3DE0F9A2}"/>
              </a:ext>
            </a:extLst>
          </p:cNvPr>
          <p:cNvSpPr>
            <a:spLocks noGrp="1"/>
          </p:cNvSpPr>
          <p:nvPr>
            <p:ph type="title"/>
          </p:nvPr>
        </p:nvSpPr>
        <p:spPr>
          <a:xfrm>
            <a:off x="838200" y="18256"/>
            <a:ext cx="10515600" cy="607723"/>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Basis Sets</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88960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nu bg">
            <a:extLst>
              <a:ext uri="{FF2B5EF4-FFF2-40B4-BE49-F238E27FC236}">
                <a16:creationId xmlns:a16="http://schemas.microsoft.com/office/drawing/2014/main" id="{D1849636-5195-A050-1CF9-9DDBBDC30BB2}"/>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0CA05595-58F7-2250-8234-7D19D8043350}"/>
              </a:ext>
            </a:extLst>
          </p:cNvPr>
          <p:cNvSpPr>
            <a:spLocks noGrp="1"/>
          </p:cNvSpPr>
          <p:nvPr>
            <p:ph type="title"/>
          </p:nvPr>
        </p:nvSpPr>
        <p:spPr>
          <a:xfrm>
            <a:off x="838200" y="18256"/>
            <a:ext cx="10515600" cy="662782"/>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Types Of Basis Sets</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6" name="!!Logo bg">
            <a:hlinkClick r:id="rId2" action="ppaction://hlinksldjump" tooltip="Go to Course Title"/>
            <a:extLst>
              <a:ext uri="{FF2B5EF4-FFF2-40B4-BE49-F238E27FC236}">
                <a16:creationId xmlns:a16="http://schemas.microsoft.com/office/drawing/2014/main" id="{F4638E1F-69AD-7BCF-EFE6-533C71223C57}"/>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7" name="!!KNUST Logo" descr="KNUST_logo Vector.png">
            <a:hlinkClick r:id="rId2" action="ppaction://hlinksldjump" tooltip="Go to Course Title"/>
            <a:extLst>
              <a:ext uri="{FF2B5EF4-FFF2-40B4-BE49-F238E27FC236}">
                <a16:creationId xmlns:a16="http://schemas.microsoft.com/office/drawing/2014/main" id="{B03BACFE-74ED-6A51-65E1-4ACE6D52E01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8" name="Slide Number Placeholder 7">
            <a:extLst>
              <a:ext uri="{FF2B5EF4-FFF2-40B4-BE49-F238E27FC236}">
                <a16:creationId xmlns:a16="http://schemas.microsoft.com/office/drawing/2014/main" id="{AB7CF0FB-3045-1C29-38C0-51DC48E8F69B}"/>
              </a:ext>
            </a:extLst>
          </p:cNvPr>
          <p:cNvSpPr>
            <a:spLocks noGrp="1"/>
          </p:cNvSpPr>
          <p:nvPr>
            <p:ph type="sldNum" sz="quarter" idx="12"/>
          </p:nvPr>
        </p:nvSpPr>
        <p:spPr>
          <a:xfrm>
            <a:off x="9362105" y="6334579"/>
            <a:ext cx="2743200" cy="365125"/>
          </a:xfrm>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18</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9" name="Picture 8">
            <a:extLst>
              <a:ext uri="{FF2B5EF4-FFF2-40B4-BE49-F238E27FC236}">
                <a16:creationId xmlns:a16="http://schemas.microsoft.com/office/drawing/2014/main" id="{3CE80848-DD93-9C7A-73B8-A61244A169E1}"/>
              </a:ext>
            </a:extLst>
          </p:cNvPr>
          <p:cNvPicPr>
            <a:picLocks noChangeAspect="1"/>
          </p:cNvPicPr>
          <p:nvPr/>
        </p:nvPicPr>
        <p:blipFill>
          <a:blip r:embed="rId4">
            <a:extLst>
              <a:ext uri="{28A0092B-C50C-407E-A947-70E740481C1C}">
                <a14:useLocalDpi xmlns:a14="http://schemas.microsoft.com/office/drawing/2010/main" val="0"/>
              </a:ext>
            </a:extLst>
          </a:blip>
          <a:srcRect r="52888"/>
          <a:stretch>
            <a:fillRect/>
          </a:stretch>
        </p:blipFill>
        <p:spPr>
          <a:xfrm>
            <a:off x="8348949" y="681038"/>
            <a:ext cx="3266501" cy="3220815"/>
          </a:xfrm>
          <a:prstGeom prst="rect">
            <a:avLst/>
          </a:prstGeom>
        </p:spPr>
      </p:pic>
      <p:sp>
        <p:nvSpPr>
          <p:cNvPr id="11" name="TextBox 10">
            <a:extLst>
              <a:ext uri="{FF2B5EF4-FFF2-40B4-BE49-F238E27FC236}">
                <a16:creationId xmlns:a16="http://schemas.microsoft.com/office/drawing/2014/main" id="{57B71F93-E6CD-4EDA-DEC4-1E8C9A1BC9D6}"/>
              </a:ext>
            </a:extLst>
          </p:cNvPr>
          <p:cNvSpPr txBox="1"/>
          <p:nvPr/>
        </p:nvSpPr>
        <p:spPr>
          <a:xfrm>
            <a:off x="289322" y="742092"/>
            <a:ext cx="7700792" cy="6186309"/>
          </a:xfrm>
          <a:prstGeom prst="rect">
            <a:avLst/>
          </a:prstGeom>
          <a:noFill/>
        </p:spPr>
        <p:txBody>
          <a:bodyPr wrap="square">
            <a:spAutoFit/>
          </a:bodyPr>
          <a:lstStyle/>
          <a:p>
            <a:pPr marL="285750" indent="-28575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Minimal: </a:t>
            </a:r>
            <a:r>
              <a:rPr lang="en-US" sz="2200" dirty="0">
                <a:latin typeface="Times New Roman" panose="02020603050405020304" pitchFamily="18" charset="0"/>
                <a:cs typeface="Times New Roman" panose="02020603050405020304" pitchFamily="18" charset="0"/>
              </a:rPr>
              <a:t>One basis function (STO, GTO, or CGTO) for each atomic orbital in the atom </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Double-zeta: </a:t>
            </a:r>
            <a:r>
              <a:rPr lang="en-US" sz="2200" dirty="0">
                <a:latin typeface="Times New Roman" panose="02020603050405020304" pitchFamily="18" charset="0"/>
                <a:cs typeface="Times New Roman" panose="02020603050405020304" pitchFamily="18" charset="0"/>
              </a:rPr>
              <a:t>Two basis functions for each atomic orbital </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Triple-zeta: </a:t>
            </a:r>
            <a:r>
              <a:rPr lang="en-US" sz="2200" dirty="0">
                <a:latin typeface="Times New Roman" panose="02020603050405020304" pitchFamily="18" charset="0"/>
                <a:cs typeface="Times New Roman" panose="02020603050405020304" pitchFamily="18" charset="0"/>
              </a:rPr>
              <a:t>Three basis functions for each atomic orbital </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Split-valence basis: </a:t>
            </a:r>
            <a:r>
              <a:rPr lang="en-US" sz="2200" dirty="0">
                <a:latin typeface="Times New Roman" panose="02020603050405020304" pitchFamily="18" charset="0"/>
                <a:cs typeface="Times New Roman" panose="02020603050405020304" pitchFamily="18" charset="0"/>
              </a:rPr>
              <a:t>uses only one basis function for each core atomic orbital, and a larger basis for the valence atomic orbital </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Polarized Basis Sets:</a:t>
            </a:r>
            <a:r>
              <a:rPr lang="en-US" sz="2200" dirty="0">
                <a:latin typeface="Times New Roman" panose="02020603050405020304" pitchFamily="18" charset="0"/>
                <a:cs typeface="Times New Roman" panose="02020603050405020304" pitchFamily="18" charset="0"/>
              </a:rPr>
              <a:t> Add higher-angular-momentum functions (polarization functions) to let orbitals shift and distort during bonding.</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200" b="1" dirty="0">
                <a:latin typeface="Times New Roman" panose="02020603050405020304" pitchFamily="18" charset="0"/>
                <a:cs typeface="Times New Roman" panose="02020603050405020304" pitchFamily="18" charset="0"/>
              </a:rPr>
              <a:t>Diffuse Basis Sets:</a:t>
            </a:r>
            <a:r>
              <a:rPr lang="en-US" sz="2200" dirty="0">
                <a:latin typeface="Times New Roman" panose="02020603050405020304" pitchFamily="18" charset="0"/>
                <a:cs typeface="Times New Roman" panose="02020603050405020304" pitchFamily="18" charset="0"/>
              </a:rPr>
              <a:t> Add loosely bound functions with small exponents to describe electrons far from the nucleus, helpful for anions or excited states and binding energies of van der Waal</a:t>
            </a:r>
          </a:p>
          <a:p>
            <a:endParaRPr lang="en-US" sz="2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FFA5FE5-88EE-C8FE-42F6-980F328AA2BF}"/>
              </a:ext>
            </a:extLst>
          </p:cNvPr>
          <p:cNvPicPr>
            <a:picLocks noChangeAspect="1"/>
          </p:cNvPicPr>
          <p:nvPr/>
        </p:nvPicPr>
        <p:blipFill>
          <a:blip r:embed="rId4">
            <a:extLst>
              <a:ext uri="{28A0092B-C50C-407E-A947-70E740481C1C}">
                <a14:useLocalDpi xmlns:a14="http://schemas.microsoft.com/office/drawing/2010/main" val="0"/>
              </a:ext>
            </a:extLst>
          </a:blip>
          <a:srcRect l="47995"/>
          <a:stretch>
            <a:fillRect/>
          </a:stretch>
        </p:blipFill>
        <p:spPr>
          <a:xfrm>
            <a:off x="8087299" y="3835246"/>
            <a:ext cx="3266501" cy="2917774"/>
          </a:xfrm>
          <a:prstGeom prst="rect">
            <a:avLst/>
          </a:prstGeom>
        </p:spPr>
      </p:pic>
    </p:spTree>
    <p:extLst>
      <p:ext uri="{BB962C8B-B14F-4D97-AF65-F5344CB8AC3E}">
        <p14:creationId xmlns:p14="http://schemas.microsoft.com/office/powerpoint/2010/main" val="2481420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nu bg">
            <a:extLst>
              <a:ext uri="{FF2B5EF4-FFF2-40B4-BE49-F238E27FC236}">
                <a16:creationId xmlns:a16="http://schemas.microsoft.com/office/drawing/2014/main" id="{476F6B96-29B5-7E96-4891-DEE8F9E03395}"/>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680E1A42-3065-F299-8A8A-80BED76FB053}"/>
              </a:ext>
            </a:extLst>
          </p:cNvPr>
          <p:cNvSpPr>
            <a:spLocks noGrp="1"/>
          </p:cNvSpPr>
          <p:nvPr>
            <p:ph type="title"/>
          </p:nvPr>
        </p:nvSpPr>
        <p:spPr>
          <a:xfrm>
            <a:off x="691124" y="1"/>
            <a:ext cx="11500876" cy="704416"/>
          </a:xfrm>
        </p:spPr>
        <p:txBody>
          <a:bodyPr>
            <a:normAutofit/>
          </a:bodyPr>
          <a:lstStyle/>
          <a:p>
            <a:pPr algn="ct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Solving  a problem</a:t>
            </a:r>
            <a:endParaRPr lang="en-GH"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Rectangle 1">
            <a:extLst>
              <a:ext uri="{FF2B5EF4-FFF2-40B4-BE49-F238E27FC236}">
                <a16:creationId xmlns:a16="http://schemas.microsoft.com/office/drawing/2014/main" id="{45BE189C-FAD2-FBDB-3C84-9D25C12CB40C}"/>
              </a:ext>
            </a:extLst>
          </p:cNvPr>
          <p:cNvSpPr>
            <a:spLocks noGrp="1" noChangeArrowheads="1"/>
          </p:cNvSpPr>
          <p:nvPr>
            <p:ph idx="1"/>
          </p:nvPr>
        </p:nvSpPr>
        <p:spPr bwMode="auto">
          <a:xfrm>
            <a:off x="403123" y="1166842"/>
            <a:ext cx="1138575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Wingdings" panose="05000000000000000000" pitchFamily="2" charset="2"/>
              <a:buChar char="q"/>
            </a:pP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Review literature</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to find functionals that work well for similar systems and properties. </a:t>
            </a:r>
            <a:endParaRPr lang="en-US" altLang="en-GH" sz="2400" dirty="0">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endPar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Compare candidate functionals</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based on their strengths and weaknesses. </a:t>
            </a:r>
            <a:endParaRPr kumimoji="0" lang="en-US"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endPar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Consider basis sets</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as performance depends on the functional–basis set combination. </a:t>
            </a:r>
            <a:endParaRPr kumimoji="0" lang="en-US"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endPar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Run calibration tests</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on small systems to check accuracy before large calculations. </a:t>
            </a:r>
            <a:endParaRPr kumimoji="0" lang="en-US"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endPar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Custom functionals</a:t>
            </a:r>
            <a:r>
              <a:rPr kumimoji="0" lang="en-US"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and level of theories</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are possible</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but require deep understanding of </a:t>
            </a:r>
            <a:r>
              <a:rPr kumimoji="0" lang="en-US"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basis set, effective core </a:t>
            </a:r>
            <a:r>
              <a:rPr kumimoji="0" lang="en-US" altLang="en-GH" sz="2400" b="0" i="0" u="none" strike="noStrike" cap="none" normalizeH="0" baseline="0" dirty="0" err="1">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potentails,</a:t>
            </a:r>
            <a:r>
              <a:rPr lang="en-US" altLang="en-GH" sz="2400" dirty="0" err="1">
                <a:latin typeface="Times New Roman" panose="02020603050405020304" pitchFamily="18" charset="0"/>
                <a:ea typeface="Tahoma" panose="020B0604030504040204" pitchFamily="34" charset="0"/>
                <a:cs typeface="Times New Roman" panose="02020603050405020304" pitchFamily="18" charset="0"/>
              </a:rPr>
              <a:t>e</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xchange </a:t>
            </a:r>
            <a:r>
              <a:rPr kumimoji="0" lang="en-US"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i</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nteraction and Electron Correlation. </a:t>
            </a:r>
            <a:endParaRPr kumimoji="0" lang="en-US"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endPar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eaLnBrk="0" fontAlgn="base" hangingPunct="0">
              <a:lnSpc>
                <a:spcPct val="100000"/>
              </a:lnSpc>
              <a:spcBef>
                <a:spcPct val="0"/>
              </a:spcBef>
              <a:spcAft>
                <a:spcPct val="0"/>
              </a:spcAft>
              <a:buFont typeface="Wingdings" panose="05000000000000000000" pitchFamily="2" charset="2"/>
              <a:buChar char="q"/>
            </a:pP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t>
            </a:r>
            <a:r>
              <a:rPr kumimoji="0" lang="en-GH" altLang="en-GH" sz="2400"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Continuously verify with literature</a:t>
            </a:r>
            <a:r>
              <a:rPr kumimoji="0" lang="en-GH" altLang="en-GH" sz="2400"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to avoid costly mistakes. </a:t>
            </a:r>
          </a:p>
        </p:txBody>
      </p:sp>
      <p:sp>
        <p:nvSpPr>
          <p:cNvPr id="6" name="!!Logo bg">
            <a:hlinkClick r:id="rId2" action="ppaction://hlinksldjump" tooltip="Go to Course Title"/>
            <a:extLst>
              <a:ext uri="{FF2B5EF4-FFF2-40B4-BE49-F238E27FC236}">
                <a16:creationId xmlns:a16="http://schemas.microsoft.com/office/drawing/2014/main" id="{3242AB70-9A09-D3B0-7D06-5EA61736A831}"/>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7" name="!!KNUST Logo" descr="KNUST_logo Vector.png">
            <a:hlinkClick r:id="rId2" action="ppaction://hlinksldjump" tooltip="Go to Course Title"/>
            <a:extLst>
              <a:ext uri="{FF2B5EF4-FFF2-40B4-BE49-F238E27FC236}">
                <a16:creationId xmlns:a16="http://schemas.microsoft.com/office/drawing/2014/main" id="{96607B77-89BC-70CA-3A0F-E1BD212AC1A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8" name="Slide Number Placeholder 7">
            <a:extLst>
              <a:ext uri="{FF2B5EF4-FFF2-40B4-BE49-F238E27FC236}">
                <a16:creationId xmlns:a16="http://schemas.microsoft.com/office/drawing/2014/main" id="{9770BAE2-05F8-6885-F284-0AD106E46F8D}"/>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19</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65450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nu bg">
            <a:extLst>
              <a:ext uri="{FF2B5EF4-FFF2-40B4-BE49-F238E27FC236}">
                <a16:creationId xmlns:a16="http://schemas.microsoft.com/office/drawing/2014/main" id="{34D395AC-411A-95CC-9BDB-C2B0ADCDB0F1}"/>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3469F7A1-6B18-D517-B6E3-2591942ED4E7}"/>
              </a:ext>
            </a:extLst>
          </p:cNvPr>
          <p:cNvSpPr>
            <a:spLocks noGrp="1"/>
          </p:cNvSpPr>
          <p:nvPr>
            <p:ph type="title"/>
          </p:nvPr>
        </p:nvSpPr>
        <p:spPr>
          <a:xfrm>
            <a:off x="838200" y="18256"/>
            <a:ext cx="10515600" cy="662782"/>
          </a:xfrm>
        </p:spPr>
        <p:txBody>
          <a:bodyPr>
            <a:normAutofit fontScale="90000"/>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What We Do?</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9" name="Content Placeholder 8">
            <a:extLst>
              <a:ext uri="{FF2B5EF4-FFF2-40B4-BE49-F238E27FC236}">
                <a16:creationId xmlns:a16="http://schemas.microsoft.com/office/drawing/2014/main" id="{610439BB-1CAD-4707-00B5-7EB298F02422}"/>
              </a:ext>
            </a:extLst>
          </p:cNvPr>
          <p:cNvPicPr>
            <a:picLocks noGrp="1" noChangeAspect="1"/>
          </p:cNvPicPr>
          <p:nvPr>
            <p:ph idx="1"/>
          </p:nvPr>
        </p:nvPicPr>
        <p:blipFill>
          <a:blip r:embed="rId2"/>
          <a:stretch>
            <a:fillRect/>
          </a:stretch>
        </p:blipFill>
        <p:spPr>
          <a:xfrm>
            <a:off x="231096" y="724235"/>
            <a:ext cx="11615057" cy="5935927"/>
          </a:xfrm>
          <a:prstGeom prst="rect">
            <a:avLst/>
          </a:prstGeom>
        </p:spPr>
      </p:pic>
      <p:sp>
        <p:nvSpPr>
          <p:cNvPr id="5" name="!!Logo bg">
            <a:hlinkClick r:id="rId3" action="ppaction://hlinksldjump" tooltip="Go to Course Title"/>
            <a:extLst>
              <a:ext uri="{FF2B5EF4-FFF2-40B4-BE49-F238E27FC236}">
                <a16:creationId xmlns:a16="http://schemas.microsoft.com/office/drawing/2014/main" id="{0C1E3782-DC5D-289D-B2D9-AC4678827FE6}"/>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6" name="!!KNUST Logo" descr="KNUST_logo Vector.png">
            <a:hlinkClick r:id="rId3" action="ppaction://hlinksldjump" tooltip="Go to Course Title"/>
            <a:extLst>
              <a:ext uri="{FF2B5EF4-FFF2-40B4-BE49-F238E27FC236}">
                <a16:creationId xmlns:a16="http://schemas.microsoft.com/office/drawing/2014/main" id="{AF51DB60-3A83-104D-A99F-0077C5C7114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7" name="Slide Number Placeholder 6">
            <a:extLst>
              <a:ext uri="{FF2B5EF4-FFF2-40B4-BE49-F238E27FC236}">
                <a16:creationId xmlns:a16="http://schemas.microsoft.com/office/drawing/2014/main" id="{AE40AC28-5E18-732D-CA26-31D7A1BF02DE}"/>
              </a:ext>
            </a:extLst>
          </p:cNvPr>
          <p:cNvSpPr>
            <a:spLocks noGrp="1"/>
          </p:cNvSpPr>
          <p:nvPr>
            <p:ph type="sldNum" sz="quarter" idx="12"/>
          </p:nvPr>
        </p:nvSpPr>
        <p:spPr>
          <a:xfrm>
            <a:off x="9357915" y="6356350"/>
            <a:ext cx="2743200" cy="365125"/>
          </a:xfrm>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20</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8173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271DC-2198-15C5-4412-7F5D4C8D2EE4}"/>
            </a:ext>
          </a:extLst>
        </p:cNvPr>
        <p:cNvGrpSpPr/>
        <p:nvPr/>
      </p:nvGrpSpPr>
      <p:grpSpPr>
        <a:xfrm>
          <a:off x="0" y="0"/>
          <a:ext cx="0" cy="0"/>
          <a:chOff x="0" y="0"/>
          <a:chExt cx="0" cy="0"/>
        </a:xfrm>
      </p:grpSpPr>
      <p:sp>
        <p:nvSpPr>
          <p:cNvPr id="4" name="!!Menu bg">
            <a:extLst>
              <a:ext uri="{FF2B5EF4-FFF2-40B4-BE49-F238E27FC236}">
                <a16:creationId xmlns:a16="http://schemas.microsoft.com/office/drawing/2014/main" id="{6906E127-B830-0E49-3BB5-26F641A8C9B1}"/>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A1729EE5-10A3-9796-AEB0-C15D38CD3F3C}"/>
              </a:ext>
            </a:extLst>
          </p:cNvPr>
          <p:cNvSpPr>
            <a:spLocks noGrp="1"/>
          </p:cNvSpPr>
          <p:nvPr>
            <p:ph type="title"/>
          </p:nvPr>
        </p:nvSpPr>
        <p:spPr>
          <a:xfrm>
            <a:off x="706195" y="-184893"/>
            <a:ext cx="12048028" cy="995763"/>
          </a:xfrm>
        </p:spPr>
        <p:txBody>
          <a:bodyPr>
            <a:normAutofit/>
          </a:bodyPr>
          <a:lstStyle/>
          <a:p>
            <a:pPr algn="ctr"/>
            <a:r>
              <a:rPr lang="en-US" b="1" dirty="0">
                <a:solidFill>
                  <a:schemeClr val="bg1"/>
                </a:solidFill>
                <a:latin typeface="Tahoma" panose="020B0604030504040204" pitchFamily="34" charset="0"/>
                <a:ea typeface="Tahoma" panose="020B0604030504040204" pitchFamily="34" charset="0"/>
                <a:cs typeface="Tahoma" panose="020B0604030504040204" pitchFamily="34" charset="0"/>
              </a:rPr>
              <a:t>What We Do?</a:t>
            </a:r>
            <a:endParaRPr lang="en-GH"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5" name="!!Logo bg">
            <a:hlinkClick r:id="rId2" action="ppaction://hlinksldjump" tooltip="Go to Course Title"/>
            <a:extLst>
              <a:ext uri="{FF2B5EF4-FFF2-40B4-BE49-F238E27FC236}">
                <a16:creationId xmlns:a16="http://schemas.microsoft.com/office/drawing/2014/main" id="{EEF9B6F7-21B5-2B00-3C3D-9A0F05ECF448}"/>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6" name="!!KNUST Logo" descr="KNUST_logo Vector.png">
            <a:hlinkClick r:id="rId2" action="ppaction://hlinksldjump" tooltip="Go to Course Title"/>
            <a:extLst>
              <a:ext uri="{FF2B5EF4-FFF2-40B4-BE49-F238E27FC236}">
                <a16:creationId xmlns:a16="http://schemas.microsoft.com/office/drawing/2014/main" id="{CFA54393-1A73-90BE-37C3-169083A5853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7" name="Slide Number Placeholder 6">
            <a:extLst>
              <a:ext uri="{FF2B5EF4-FFF2-40B4-BE49-F238E27FC236}">
                <a16:creationId xmlns:a16="http://schemas.microsoft.com/office/drawing/2014/main" id="{8E1D185F-1BC9-140E-AD19-708CA775A8D2}"/>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21</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9" name="Rounded Rectangle 5">
            <a:extLst>
              <a:ext uri="{FF2B5EF4-FFF2-40B4-BE49-F238E27FC236}">
                <a16:creationId xmlns:a16="http://schemas.microsoft.com/office/drawing/2014/main" id="{89B29C0C-8452-8555-FC01-56E34488AE7F}"/>
              </a:ext>
            </a:extLst>
          </p:cNvPr>
          <p:cNvSpPr/>
          <p:nvPr/>
        </p:nvSpPr>
        <p:spPr>
          <a:xfrm>
            <a:off x="354874" y="888804"/>
            <a:ext cx="5349240" cy="1371600"/>
          </a:xfrm>
          <a:prstGeom prst="roundRect">
            <a:avLst/>
          </a:prstGeom>
          <a:solidFill>
            <a:srgbClr val="F4F7FA"/>
          </a:solidFill>
          <a:ln>
            <a:solidFill>
              <a:srgbClr val="D7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4DA991A4-C9A5-0156-75FC-FBC8A1D69339}"/>
              </a:ext>
            </a:extLst>
          </p:cNvPr>
          <p:cNvSpPr/>
          <p:nvPr/>
        </p:nvSpPr>
        <p:spPr>
          <a:xfrm>
            <a:off x="354874" y="888804"/>
            <a:ext cx="73152" cy="1371600"/>
          </a:xfrm>
          <a:prstGeom prst="rect">
            <a:avLst/>
          </a:prstGeom>
          <a:solidFill>
            <a:srgbClr val="2A65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3854AF22-4A46-B919-2861-09036F4F5B12}"/>
              </a:ext>
            </a:extLst>
          </p:cNvPr>
          <p:cNvSpPr txBox="1"/>
          <p:nvPr/>
        </p:nvSpPr>
        <p:spPr>
          <a:xfrm>
            <a:off x="519466" y="933487"/>
            <a:ext cx="801823" cy="307777"/>
          </a:xfrm>
          <a:prstGeom prst="rect">
            <a:avLst/>
          </a:prstGeom>
          <a:noFill/>
        </p:spPr>
        <p:txBody>
          <a:bodyPr wrap="none">
            <a:spAutoFit/>
          </a:bodyPr>
          <a:lstStyle/>
          <a:p>
            <a:pPr>
              <a:defRPr sz="1400" b="1">
                <a:solidFill>
                  <a:srgbClr val="142A4A"/>
                </a:solidFill>
              </a:defRPr>
            </a:pPr>
            <a:r>
              <a:rPr sz="1400" dirty="0">
                <a:latin typeface="Times New Roman" panose="02020603050405020304" pitchFamily="18" charset="0"/>
                <a:cs typeface="Times New Roman" panose="02020603050405020304" pitchFamily="18" charset="0"/>
              </a:rPr>
              <a:t>Spartan</a:t>
            </a:r>
          </a:p>
        </p:txBody>
      </p:sp>
      <p:sp>
        <p:nvSpPr>
          <p:cNvPr id="15" name="TextBox 14">
            <a:extLst>
              <a:ext uri="{FF2B5EF4-FFF2-40B4-BE49-F238E27FC236}">
                <a16:creationId xmlns:a16="http://schemas.microsoft.com/office/drawing/2014/main" id="{A3EFE5BB-959A-22CB-B0EF-08CA02BDBD55}"/>
              </a:ext>
            </a:extLst>
          </p:cNvPr>
          <p:cNvSpPr txBox="1"/>
          <p:nvPr/>
        </p:nvSpPr>
        <p:spPr>
          <a:xfrm>
            <a:off x="492034" y="1241264"/>
            <a:ext cx="5074920" cy="1077218"/>
          </a:xfrm>
          <a:prstGeom prst="rect">
            <a:avLst/>
          </a:prstGeom>
          <a:noFill/>
        </p:spPr>
        <p:txBody>
          <a:bodyPr wrap="square">
            <a:spAutoFit/>
          </a:bodyPr>
          <a:lstStyle/>
          <a:p>
            <a:pPr>
              <a:defRPr sz="1150">
                <a:solidFill>
                  <a:srgbClr val="222831"/>
                </a:solidFill>
              </a:defRPr>
            </a:pPr>
            <a:r>
              <a:rPr sz="1600" dirty="0">
                <a:latin typeface="Times New Roman" panose="02020603050405020304" pitchFamily="18" charset="0"/>
                <a:cs typeface="Times New Roman" panose="02020603050405020304" pitchFamily="18" charset="0"/>
              </a:rPr>
              <a:t>Model building, conformational exploration, visualization and accessible setup of electronic-structure calculations; useful for introducing students to computational workflows.</a:t>
            </a:r>
          </a:p>
        </p:txBody>
      </p:sp>
      <p:sp>
        <p:nvSpPr>
          <p:cNvPr id="17" name="Rounded Rectangle 9">
            <a:extLst>
              <a:ext uri="{FF2B5EF4-FFF2-40B4-BE49-F238E27FC236}">
                <a16:creationId xmlns:a16="http://schemas.microsoft.com/office/drawing/2014/main" id="{06CB4A19-DDBE-B3CF-DDA7-B4FED7CC63F5}"/>
              </a:ext>
            </a:extLst>
          </p:cNvPr>
          <p:cNvSpPr/>
          <p:nvPr/>
        </p:nvSpPr>
        <p:spPr>
          <a:xfrm>
            <a:off x="6263640" y="757646"/>
            <a:ext cx="5349240" cy="1371600"/>
          </a:xfrm>
          <a:prstGeom prst="roundRect">
            <a:avLst/>
          </a:prstGeom>
          <a:solidFill>
            <a:srgbClr val="F4F7FA"/>
          </a:solidFill>
          <a:ln>
            <a:solidFill>
              <a:srgbClr val="D7DF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DDE08F01-7F1E-AA13-7147-8B77DCBE0100}"/>
              </a:ext>
            </a:extLst>
          </p:cNvPr>
          <p:cNvSpPr/>
          <p:nvPr/>
        </p:nvSpPr>
        <p:spPr>
          <a:xfrm>
            <a:off x="6263640" y="757646"/>
            <a:ext cx="73152" cy="1371600"/>
          </a:xfrm>
          <a:prstGeom prst="rect">
            <a:avLst/>
          </a:prstGeom>
          <a:solidFill>
            <a:srgbClr val="E07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243C122D-76F1-F0E5-5A15-4B32C30AB4EE}"/>
              </a:ext>
            </a:extLst>
          </p:cNvPr>
          <p:cNvSpPr txBox="1"/>
          <p:nvPr/>
        </p:nvSpPr>
        <p:spPr>
          <a:xfrm>
            <a:off x="6428231" y="867374"/>
            <a:ext cx="1885196" cy="307777"/>
          </a:xfrm>
          <a:prstGeom prst="rect">
            <a:avLst/>
          </a:prstGeom>
          <a:noFill/>
        </p:spPr>
        <p:txBody>
          <a:bodyPr wrap="none">
            <a:spAutoFit/>
          </a:bodyPr>
          <a:lstStyle/>
          <a:p>
            <a:pPr>
              <a:defRPr sz="1400" b="1">
                <a:solidFill>
                  <a:srgbClr val="142A4A"/>
                </a:solidFill>
              </a:defRPr>
            </a:pPr>
            <a:r>
              <a:rPr sz="1400" dirty="0">
                <a:latin typeface="Times New Roman" panose="02020603050405020304" pitchFamily="18" charset="0"/>
                <a:cs typeface="Times New Roman" panose="02020603050405020304" pitchFamily="18" charset="0"/>
              </a:rPr>
              <a:t>Gaussian / </a:t>
            </a:r>
            <a:r>
              <a:rPr sz="1400" dirty="0" err="1">
                <a:latin typeface="Times New Roman" panose="02020603050405020304" pitchFamily="18" charset="0"/>
                <a:cs typeface="Times New Roman" panose="02020603050405020304" pitchFamily="18" charset="0"/>
              </a:rPr>
              <a:t>GaussView</a:t>
            </a:r>
            <a:endParaRPr sz="14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D689A3C8-E496-8C40-0555-BF3B55480689}"/>
              </a:ext>
            </a:extLst>
          </p:cNvPr>
          <p:cNvSpPr txBox="1"/>
          <p:nvPr/>
        </p:nvSpPr>
        <p:spPr>
          <a:xfrm>
            <a:off x="6428231" y="1214846"/>
            <a:ext cx="5074920" cy="830997"/>
          </a:xfrm>
          <a:prstGeom prst="rect">
            <a:avLst/>
          </a:prstGeom>
          <a:noFill/>
        </p:spPr>
        <p:txBody>
          <a:bodyPr wrap="square">
            <a:spAutoFit/>
          </a:bodyPr>
          <a:lstStyle/>
          <a:p>
            <a:pPr>
              <a:defRPr sz="1150">
                <a:solidFill>
                  <a:srgbClr val="222831"/>
                </a:solidFill>
              </a:defRPr>
            </a:pPr>
            <a:r>
              <a:rPr sz="1600" dirty="0">
                <a:latin typeface="Times New Roman" panose="02020603050405020304" pitchFamily="18" charset="0"/>
                <a:cs typeface="Times New Roman" panose="02020603050405020304" pitchFamily="18" charset="0"/>
              </a:rPr>
              <a:t>Geometry optimization, frequencies, single-point energies, TS searches, IRC,</a:t>
            </a:r>
            <a:r>
              <a:rPr lang="en-US" sz="1600" dirty="0">
                <a:latin typeface="Times New Roman" panose="02020603050405020304" pitchFamily="18" charset="0"/>
                <a:cs typeface="Times New Roman" panose="02020603050405020304" pitchFamily="18" charset="0"/>
              </a:rPr>
              <a:t>DFT</a:t>
            </a:r>
            <a:r>
              <a:rPr sz="1600" dirty="0">
                <a:latin typeface="Times New Roman" panose="02020603050405020304" pitchFamily="18" charset="0"/>
                <a:cs typeface="Times New Roman" panose="02020603050405020304" pitchFamily="18" charset="0"/>
              </a:rPr>
              <a:t> scans and many electronic-structure properties.</a:t>
            </a:r>
          </a:p>
        </p:txBody>
      </p:sp>
      <p:pic>
        <p:nvPicPr>
          <p:cNvPr id="25" name="Picture 24">
            <a:extLst>
              <a:ext uri="{FF2B5EF4-FFF2-40B4-BE49-F238E27FC236}">
                <a16:creationId xmlns:a16="http://schemas.microsoft.com/office/drawing/2014/main" id="{6D036E2B-D0C2-DAD2-1393-3CE97C891666}"/>
              </a:ext>
            </a:extLst>
          </p:cNvPr>
          <p:cNvPicPr>
            <a:picLocks noChangeAspect="1"/>
          </p:cNvPicPr>
          <p:nvPr/>
        </p:nvPicPr>
        <p:blipFill>
          <a:blip r:embed="rId4"/>
          <a:srcRect l="1652"/>
          <a:stretch>
            <a:fillRect/>
          </a:stretch>
        </p:blipFill>
        <p:spPr>
          <a:xfrm>
            <a:off x="287095" y="2592096"/>
            <a:ext cx="5276088" cy="4011002"/>
          </a:xfrm>
          <a:prstGeom prst="rect">
            <a:avLst/>
          </a:prstGeom>
        </p:spPr>
      </p:pic>
      <p:pic>
        <p:nvPicPr>
          <p:cNvPr id="27" name="Picture 26">
            <a:extLst>
              <a:ext uri="{FF2B5EF4-FFF2-40B4-BE49-F238E27FC236}">
                <a16:creationId xmlns:a16="http://schemas.microsoft.com/office/drawing/2014/main" id="{46305620-E52E-4419-94D9-8C9DCCDF8E1D}"/>
              </a:ext>
            </a:extLst>
          </p:cNvPr>
          <p:cNvPicPr>
            <a:picLocks noChangeAspect="1"/>
          </p:cNvPicPr>
          <p:nvPr/>
        </p:nvPicPr>
        <p:blipFill>
          <a:blip r:embed="rId5"/>
          <a:stretch>
            <a:fillRect/>
          </a:stretch>
        </p:blipFill>
        <p:spPr>
          <a:xfrm>
            <a:off x="6263640" y="2318482"/>
            <a:ext cx="5480133" cy="3907063"/>
          </a:xfrm>
          <a:prstGeom prst="rect">
            <a:avLst/>
          </a:prstGeom>
        </p:spPr>
      </p:pic>
    </p:spTree>
    <p:extLst>
      <p:ext uri="{BB962C8B-B14F-4D97-AF65-F5344CB8AC3E}">
        <p14:creationId xmlns:p14="http://schemas.microsoft.com/office/powerpoint/2010/main" val="59249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nu bg">
            <a:extLst>
              <a:ext uri="{FF2B5EF4-FFF2-40B4-BE49-F238E27FC236}">
                <a16:creationId xmlns:a16="http://schemas.microsoft.com/office/drawing/2014/main" id="{D1CEEDF3-7C1F-D70F-D64D-5FFB8FABF357}"/>
              </a:ext>
            </a:extLst>
          </p:cNvPr>
          <p:cNvSpPr/>
          <p:nvPr/>
        </p:nvSpPr>
        <p:spPr>
          <a:xfrm>
            <a:off x="0" y="0"/>
            <a:ext cx="12192000" cy="625979"/>
          </a:xfrm>
          <a:prstGeom prst="rect">
            <a:avLst/>
          </a:prstGeom>
          <a:solidFill>
            <a:srgbClr val="00B0F0"/>
          </a:solidFill>
          <a:ln>
            <a:noFill/>
          </a:ln>
          <a:effectLst>
            <a:outerShdw blurRad="25400" dir="5400000" algn="t" rotWithShape="0">
              <a:schemeClr val="tx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C26D770-C9CD-8154-1526-3C055C9A51BC}"/>
              </a:ext>
            </a:extLst>
          </p:cNvPr>
          <p:cNvSpPr>
            <a:spLocks noGrp="1"/>
          </p:cNvSpPr>
          <p:nvPr>
            <p:ph type="title"/>
          </p:nvPr>
        </p:nvSpPr>
        <p:spPr>
          <a:xfrm>
            <a:off x="838200" y="18256"/>
            <a:ext cx="10515600" cy="662782"/>
          </a:xfrm>
        </p:spPr>
        <p:txBody>
          <a:bodyPr>
            <a:normAutofit fontScale="90000"/>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Hands-on Session</a:t>
            </a:r>
            <a:endParaRPr lang="en-GH"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6A77756D-C2C6-0A1C-ED72-9340F60DC46E}"/>
              </a:ext>
            </a:extLst>
          </p:cNvPr>
          <p:cNvSpPr>
            <a:spLocks noGrp="1"/>
          </p:cNvSpPr>
          <p:nvPr>
            <p:ph idx="1"/>
          </p:nvPr>
        </p:nvSpPr>
        <p:spPr>
          <a:xfrm>
            <a:off x="196645" y="785288"/>
            <a:ext cx="11798710" cy="5836737"/>
          </a:xfrm>
        </p:spPr>
        <p:txBody>
          <a:bodyPr>
            <a:normAutofit/>
          </a:bodyPr>
          <a:lstStyle/>
          <a:p>
            <a:pPr lvl="1"/>
            <a:r>
              <a:rPr lang="en-US" sz="2000" dirty="0"/>
              <a:t>Build an advanced computational workflow using tools to solve cycloaddition and organometallic problems</a:t>
            </a:r>
          </a:p>
        </p:txBody>
      </p:sp>
      <p:sp>
        <p:nvSpPr>
          <p:cNvPr id="7" name="!!Logo bg">
            <a:hlinkClick r:id="rId2" action="ppaction://hlinksldjump" tooltip="Go to Course Title"/>
            <a:extLst>
              <a:ext uri="{FF2B5EF4-FFF2-40B4-BE49-F238E27FC236}">
                <a16:creationId xmlns:a16="http://schemas.microsoft.com/office/drawing/2014/main" id="{0207F4F2-9725-A839-ADE2-599F5E57DED1}"/>
              </a:ext>
            </a:extLst>
          </p:cNvPr>
          <p:cNvSpPr/>
          <p:nvPr/>
        </p:nvSpPr>
        <p:spPr>
          <a:xfrm rot="1687270">
            <a:off x="-438043" y="-692442"/>
            <a:ext cx="1450276" cy="1450276"/>
          </a:xfrm>
          <a:prstGeom prst="roundRect">
            <a:avLst/>
          </a:prstGeom>
          <a:solidFill>
            <a:schemeClr val="bg1"/>
          </a:solidFill>
          <a:ln w="57150">
            <a:solidFill>
              <a:srgbClr val="00B0F0"/>
            </a:solidFill>
          </a:ln>
          <a:effectLst>
            <a:outerShdw blurRad="3175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8" name="!!KNUST Logo" descr="KNUST_logo Vector.png">
            <a:hlinkClick r:id="rId2" action="ppaction://hlinksldjump" tooltip="Go to Course Title"/>
            <a:extLst>
              <a:ext uri="{FF2B5EF4-FFF2-40B4-BE49-F238E27FC236}">
                <a16:creationId xmlns:a16="http://schemas.microsoft.com/office/drawing/2014/main" id="{D22E84AB-9F36-C4F0-7EE9-D4A4746E9A5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2238" y="43197"/>
            <a:ext cx="488886" cy="698895"/>
          </a:xfrm>
          <a:prstGeom prst="rect">
            <a:avLst/>
          </a:prstGeom>
        </p:spPr>
      </p:pic>
      <p:sp>
        <p:nvSpPr>
          <p:cNvPr id="9" name="Slide Number Placeholder 8">
            <a:extLst>
              <a:ext uri="{FF2B5EF4-FFF2-40B4-BE49-F238E27FC236}">
                <a16:creationId xmlns:a16="http://schemas.microsoft.com/office/drawing/2014/main" id="{61C991DA-A460-E32B-6465-AC5E0E1C2869}"/>
              </a:ext>
            </a:extLst>
          </p:cNvPr>
          <p:cNvSpPr>
            <a:spLocks noGrp="1"/>
          </p:cNvSpPr>
          <p:nvPr>
            <p:ph type="sldNum" sz="quarter" idx="12"/>
          </p:nvPr>
        </p:nvSpPr>
        <p:spPr/>
        <p:txBody>
          <a:bodyPr/>
          <a:lstStyle/>
          <a:p>
            <a:fld id="{242ABA46-A9AF-4B1F-8225-80AC7C2B9A79}" type="slidenum">
              <a:rPr lang="en-GH" sz="2000" smtClean="0">
                <a:solidFill>
                  <a:schemeClr val="tx1"/>
                </a:solidFill>
                <a:latin typeface="Tahoma" panose="020B0604030504040204" pitchFamily="34" charset="0"/>
                <a:ea typeface="Tahoma" panose="020B0604030504040204" pitchFamily="34" charset="0"/>
                <a:cs typeface="Tahoma" panose="020B0604030504040204" pitchFamily="34" charset="0"/>
              </a:rPr>
              <a:t>22</a:t>
            </a:fld>
            <a:endParaRPr lang="en-GH"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77405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EDCB07-149A-D6F9-449B-34F8B41C4BE8}"/>
              </a:ext>
            </a:extLst>
          </p:cNvPr>
          <p:cNvSpPr>
            <a:spLocks noGrp="1"/>
          </p:cNvSpPr>
          <p:nvPr>
            <p:ph type="sldNum" sz="quarter" idx="12"/>
          </p:nvPr>
        </p:nvSpPr>
        <p:spPr/>
        <p:txBody>
          <a:bodyPr/>
          <a:lstStyle/>
          <a:p>
            <a:fld id="{242ABA46-A9AF-4B1F-8225-80AC7C2B9A79}" type="slidenum">
              <a:rPr lang="en-GH" smtClean="0"/>
              <a:t>23</a:t>
            </a:fld>
            <a:endParaRPr lang="en-GH"/>
          </a:p>
        </p:txBody>
      </p:sp>
      <p:pic>
        <p:nvPicPr>
          <p:cNvPr id="3" name="Picture 2">
            <a:extLst>
              <a:ext uri="{FF2B5EF4-FFF2-40B4-BE49-F238E27FC236}">
                <a16:creationId xmlns:a16="http://schemas.microsoft.com/office/drawing/2014/main" id="{74C5A2FE-668B-86DC-8E00-45617221B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58"/>
            <a:ext cx="12191999" cy="6847610"/>
          </a:xfrm>
          <a:prstGeom prst="rect">
            <a:avLst/>
          </a:prstGeom>
          <a:noFill/>
          <a:extLst>
            <a:ext uri="{909E8E84-426E-40DD-AFC4-6F175D3DCCD1}">
              <a14:hiddenFill xmlns:a14="http://schemas.microsoft.com/office/drawing/2010/main">
                <a:solidFill>
                  <a:srgbClr val="FFFFFF"/>
                </a:solidFill>
              </a14:hiddenFill>
            </a:ext>
          </a:extLst>
        </p:spPr>
      </p:pic>
      <p:sp>
        <p:nvSpPr>
          <p:cNvPr id="4" name="!!Logo bg">
            <a:hlinkClick r:id="" action="ppaction://hlinkshowjump?jump=lastslideviewed"/>
            <a:extLst>
              <a:ext uri="{FF2B5EF4-FFF2-40B4-BE49-F238E27FC236}">
                <a16:creationId xmlns:a16="http://schemas.microsoft.com/office/drawing/2014/main" id="{77394CC4-DD9E-9B3E-90F5-34C0E71CFF93}"/>
              </a:ext>
            </a:extLst>
          </p:cNvPr>
          <p:cNvSpPr/>
          <p:nvPr/>
        </p:nvSpPr>
        <p:spPr>
          <a:xfrm rot="5400000">
            <a:off x="-126149" y="-319982"/>
            <a:ext cx="1450276" cy="1005019"/>
          </a:xfrm>
          <a:prstGeom prst="roundRect">
            <a:avLst/>
          </a:prstGeom>
          <a:solidFill>
            <a:srgbClr val="00B0F0"/>
          </a:solidFill>
          <a:ln w="57150" cap="flat" cmpd="sng" algn="ctr">
            <a:solidFill>
              <a:schemeClr val="bg1"/>
            </a:solidFill>
            <a:prstDash val="solid"/>
            <a:miter lim="800000"/>
          </a:ln>
          <a:effectLst>
            <a:outerShdw blurRad="317500" dist="38100" dir="2700000" algn="tl" rotWithShape="0">
              <a:prstClr val="black">
                <a:alpha val="40000"/>
              </a:prst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x-none" sz="1800" b="0" i="0" u="none" strike="noStrike" kern="0" cap="none" spc="0" normalizeH="0" baseline="0" noProof="0" dirty="0">
              <a:ln>
                <a:noFill/>
              </a:ln>
              <a:solidFill>
                <a:prstClr val="white"/>
              </a:solidFill>
              <a:effectLst/>
              <a:uLnTx/>
              <a:uFillTx/>
              <a:latin typeface="Lato"/>
              <a:ea typeface="+mn-ea"/>
              <a:cs typeface="+mn-cs"/>
            </a:endParaRPr>
          </a:p>
        </p:txBody>
      </p:sp>
      <p:pic>
        <p:nvPicPr>
          <p:cNvPr id="5" name="!!KNUST Logo" descr="KNUST_logo Vector.png">
            <a:hlinkClick r:id="" action="ppaction://hlinkshowjump?jump=lastslideviewed"/>
            <a:extLst>
              <a:ext uri="{FF2B5EF4-FFF2-40B4-BE49-F238E27FC236}">
                <a16:creationId xmlns:a16="http://schemas.microsoft.com/office/drawing/2014/main" id="{C1FEBEEA-733F-0CB0-58B8-432DB16764D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54546" y="51379"/>
            <a:ext cx="488886" cy="698895"/>
          </a:xfrm>
          <a:prstGeom prst="rect">
            <a:avLst/>
          </a:prstGeom>
        </p:spPr>
      </p:pic>
      <p:sp>
        <p:nvSpPr>
          <p:cNvPr id="6" name="TextBox 5">
            <a:extLst>
              <a:ext uri="{FF2B5EF4-FFF2-40B4-BE49-F238E27FC236}">
                <a16:creationId xmlns:a16="http://schemas.microsoft.com/office/drawing/2014/main" id="{288F2837-524C-8618-CC6F-3335A49528D9}"/>
              </a:ext>
            </a:extLst>
          </p:cNvPr>
          <p:cNvSpPr txBox="1"/>
          <p:nvPr/>
        </p:nvSpPr>
        <p:spPr>
          <a:xfrm>
            <a:off x="1140542" y="77660"/>
            <a:ext cx="637867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Kwame Nkrumah University of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Science &amp; Technology, Kumasi, Ghana</a:t>
            </a:r>
          </a:p>
        </p:txBody>
      </p:sp>
      <p:sp>
        <p:nvSpPr>
          <p:cNvPr id="8" name="TextBox 7">
            <a:extLst>
              <a:ext uri="{FF2B5EF4-FFF2-40B4-BE49-F238E27FC236}">
                <a16:creationId xmlns:a16="http://schemas.microsoft.com/office/drawing/2014/main" id="{CFF6A765-7DFC-E83E-BFC7-BA9073F39B30}"/>
              </a:ext>
            </a:extLst>
          </p:cNvPr>
          <p:cNvSpPr txBox="1"/>
          <p:nvPr/>
        </p:nvSpPr>
        <p:spPr>
          <a:xfrm>
            <a:off x="2909119" y="2106824"/>
            <a:ext cx="6260690" cy="1877437"/>
          </a:xfrm>
          <a:prstGeom prst="rect">
            <a:avLst/>
          </a:prstGeom>
          <a:noFill/>
        </p:spPr>
        <p:txBody>
          <a:bodyPr wrap="square">
            <a:spAutoFit/>
          </a:bodyPr>
          <a:lstStyle/>
          <a:p>
            <a:pPr algn="ctr"/>
            <a:r>
              <a:rPr lang="en-US" sz="8000" b="1" dirty="0">
                <a:solidFill>
                  <a:schemeClr val="bg1"/>
                </a:solidFill>
                <a:effectLst>
                  <a:outerShdw blurRad="38100" dist="38100" dir="2700000" algn="tl">
                    <a:srgbClr val="000000">
                      <a:alpha val="43137"/>
                    </a:srgbClr>
                  </a:outerShdw>
                </a:effectLst>
              </a:rPr>
              <a:t>Thank you </a:t>
            </a:r>
            <a:endParaRPr lang="x-none" sz="8000" b="1" dirty="0">
              <a:solidFill>
                <a:schemeClr val="bg1"/>
              </a:solidFill>
              <a:effectLst>
                <a:outerShdw blurRad="38100" dist="38100" dir="2700000" algn="tl">
                  <a:srgbClr val="000000">
                    <a:alpha val="43137"/>
                  </a:srgbClr>
                </a:outerShdw>
              </a:effectLst>
            </a:endParaRPr>
          </a:p>
          <a:p>
            <a:pPr algn="ctr"/>
            <a:endParaRPr lang="en-US" b="1" spc="1200" dirty="0">
              <a:solidFill>
                <a:schemeClr val="bg1"/>
              </a:solidFill>
              <a:effectLst>
                <a:outerShdw blurRad="38100" dist="38100" dir="2700000" algn="tl">
                  <a:srgbClr val="000000">
                    <a:alpha val="43137"/>
                  </a:srgbClr>
                </a:outerShdw>
              </a:effectLst>
              <a:latin typeface="Lato Light" panose="020F0502020204030203" pitchFamily="34" charset="0"/>
              <a:ea typeface="Lato Light" panose="020F0502020204030203" pitchFamily="34" charset="0"/>
              <a:cs typeface="Lato Light" panose="020F0502020204030203" pitchFamily="34" charset="0"/>
            </a:endParaRPr>
          </a:p>
          <a:p>
            <a:pPr algn="ctr"/>
            <a:r>
              <a:rPr lang="en-US" sz="1800" b="1" spc="1200" dirty="0">
                <a:solidFill>
                  <a:schemeClr val="bg1"/>
                </a:solidFill>
                <a:effectLst>
                  <a:outerShdw blurRad="38100" dist="38100" dir="2700000" algn="tl">
                    <a:srgbClr val="000000">
                      <a:alpha val="43137"/>
                    </a:srgbClr>
                  </a:outerShdw>
                </a:effectLst>
                <a:latin typeface="Lato Light" panose="020F0502020204030203" pitchFamily="34" charset="0"/>
                <a:ea typeface="Lato Light" panose="020F0502020204030203" pitchFamily="34" charset="0"/>
                <a:cs typeface="Lato Light" panose="020F0502020204030203" pitchFamily="34" charset="0"/>
              </a:rPr>
              <a:t>End of Presentation</a:t>
            </a:r>
            <a:endParaRPr lang="en-US" sz="1000" b="1" spc="1200" dirty="0">
              <a:solidFill>
                <a:schemeClr val="bg1"/>
              </a:solidFill>
              <a:effectLst>
                <a:outerShdw blurRad="38100" dist="38100" dir="2700000" algn="tl">
                  <a:srgbClr val="000000">
                    <a:alpha val="43137"/>
                  </a:srgbClr>
                </a:outerShdw>
              </a:effectLst>
              <a:latin typeface="Lato Light" panose="020F0502020204030203" pitchFamily="34" charset="0"/>
              <a:ea typeface="Lato Light" panose="020F0502020204030203" pitchFamily="34" charset="0"/>
              <a:cs typeface="Lato Light" panose="020F0502020204030203" pitchFamily="34" charset="0"/>
            </a:endParaRPr>
          </a:p>
        </p:txBody>
      </p:sp>
    </p:spTree>
    <p:extLst>
      <p:ext uri="{BB962C8B-B14F-4D97-AF65-F5344CB8AC3E}">
        <p14:creationId xmlns:p14="http://schemas.microsoft.com/office/powerpoint/2010/main" val="42783778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1273</TotalTime>
  <Words>1737</Words>
  <Application>Microsoft Office PowerPoint</Application>
  <PresentationFormat>Widescreen</PresentationFormat>
  <Paragraphs>208</Paragraphs>
  <Slides>23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Calibri</vt:lpstr>
      <vt:lpstr>Calibri Light</vt:lpstr>
      <vt:lpstr>Cambria Math</vt:lpstr>
      <vt:lpstr>Lato</vt:lpstr>
      <vt:lpstr>Lato Light</vt:lpstr>
      <vt:lpstr>Segoe UI</vt:lpstr>
      <vt:lpstr>Tahoma</vt:lpstr>
      <vt:lpstr>Times New Roman</vt:lpstr>
      <vt:lpstr>Wingdings</vt:lpstr>
      <vt:lpstr>Office Theme</vt:lpstr>
      <vt:lpstr>Molecular Mechanics, Modeling  and Electron Structure Method</vt:lpstr>
      <vt:lpstr>PowerPoint Presentation</vt:lpstr>
      <vt:lpstr>Computational Chemistry</vt:lpstr>
      <vt:lpstr>PowerPoint Presentation</vt:lpstr>
      <vt:lpstr>Quantum Chemical Methods</vt:lpstr>
      <vt:lpstr>The Hatree-Fock Method</vt:lpstr>
      <vt:lpstr>PowerPoint Presentation</vt:lpstr>
      <vt:lpstr>Post Hartree-Fck Method</vt:lpstr>
      <vt:lpstr>PowerPoint Presentation</vt:lpstr>
      <vt:lpstr>Advantages</vt:lpstr>
      <vt:lpstr>Limitation</vt:lpstr>
      <vt:lpstr>PowerPoint Presentation</vt:lpstr>
      <vt:lpstr>PowerPoint Presentation</vt:lpstr>
      <vt:lpstr>Energy Profile Diagram (EPD)</vt:lpstr>
      <vt:lpstr>PowerPoint Presentation</vt:lpstr>
      <vt:lpstr>PowerPoint Presentation</vt:lpstr>
      <vt:lpstr>Basis Sets</vt:lpstr>
      <vt:lpstr>Types Of Basis Sets</vt:lpstr>
      <vt:lpstr>Solving  a problem</vt:lpstr>
      <vt:lpstr>What We Do?</vt:lpstr>
      <vt:lpstr>What We Do?</vt:lpstr>
      <vt:lpstr>Hands-on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Mysta Brown</dc:creator>
  <cp:lastModifiedBy>Vincent Gokah</cp:lastModifiedBy>
  <cp:revision>381</cp:revision>
  <dcterms:created xsi:type="dcterms:W3CDTF">2026-03-23T11:56:01Z</dcterms:created>
  <dcterms:modified xsi:type="dcterms:W3CDTF">2026-09-27T17:26:38Z</dcterms:modified>
</cp:coreProperties>
</file>